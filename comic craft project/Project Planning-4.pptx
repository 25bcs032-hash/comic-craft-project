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5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1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9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7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6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9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2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6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1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8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6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12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9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334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71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98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0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42BE8-80EF-46C1-8D45-B7557A22AD4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FDD3FE-CC83-4B9C-9F80-8498DF72A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2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5476" y="0"/>
            <a:ext cx="8946525" cy="1320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  <a:latin typeface="Algerian" panose="04020705040A02060702" pitchFamily="82" charset="0"/>
              </a:rPr>
              <a:t>Project Planning </a:t>
            </a:r>
            <a:r>
              <a:rPr lang="en-US" dirty="0" smtClean="0">
                <a:solidFill>
                  <a:schemeClr val="accent2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chemeClr val="accent2"/>
                </a:solidFill>
                <a:latin typeface="Algerian" panose="04020705040A02060702" pitchFamily="82" charset="0"/>
              </a:rPr>
            </a:br>
            <a:endParaRPr lang="en-US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5964"/>
            <a:ext cx="11388436" cy="4245609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1. </a:t>
            </a:r>
            <a:r>
              <a:rPr lang="en-US" sz="2400" b="1" u="sng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Purpose :</a:t>
            </a:r>
            <a:endParaRPr lang="en-US" sz="2400" b="1" u="sng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The </a:t>
            </a:r>
            <a:r>
              <a:rPr lang="en-US" sz="2000" b="1" dirty="0">
                <a:solidFill>
                  <a:schemeClr val="tx1"/>
                </a:solidFill>
              </a:rPr>
              <a:t>Project Planning Phase breaks the </a:t>
            </a:r>
            <a:r>
              <a:rPr lang="en-US" sz="2000" b="1" dirty="0" err="1">
                <a:solidFill>
                  <a:schemeClr val="tx1"/>
                </a:solidFill>
              </a:rPr>
              <a:t>ComicCraft</a:t>
            </a:r>
            <a:r>
              <a:rPr lang="en-US" sz="2000" b="1" dirty="0">
                <a:solidFill>
                  <a:schemeClr val="tx1"/>
                </a:solidFill>
              </a:rPr>
              <a:t> project into clear, manageable milestones and activities. 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defines what will be done, in what order, and how progress will be tracked — turning the design blueprint into an actionable execution plan</a:t>
            </a:r>
            <a:r>
              <a:rPr lang="en-US" sz="2000" b="1" dirty="0" smtClean="0">
                <a:solidFill>
                  <a:schemeClr val="tx1"/>
                </a:solidFill>
              </a:rPr>
              <a:t>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2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. Project Milestones and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ActivitiesMilestone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2400" b="1" u="sng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  <a:r>
              <a:rPr lang="en-US" sz="2000" b="1" u="sng" dirty="0">
                <a:solidFill>
                  <a:schemeClr val="tx1"/>
                </a:solidFill>
                <a:latin typeface="Arial Black" panose="020B0A04020102020204" pitchFamily="34" charset="0"/>
              </a:rPr>
              <a:t>: Model Selection and </a:t>
            </a:r>
            <a:r>
              <a:rPr lang="en-US" sz="2000" b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Architecture: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Activity1.1 </a:t>
            </a:r>
            <a:r>
              <a:rPr lang="en-US" sz="2000" b="1" dirty="0">
                <a:solidFill>
                  <a:schemeClr val="tx1"/>
                </a:solidFill>
              </a:rPr>
              <a:t>– Research and select the appropriate generative AI </a:t>
            </a:r>
            <a:r>
              <a:rPr lang="en-US" sz="2000" b="1" dirty="0" smtClean="0">
                <a:solidFill>
                  <a:schemeClr val="tx1"/>
                </a:solidFill>
              </a:rPr>
              <a:t>model.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Activity </a:t>
            </a:r>
            <a:r>
              <a:rPr lang="en-US" sz="2000" b="1" dirty="0">
                <a:solidFill>
                  <a:schemeClr val="tx1"/>
                </a:solidFill>
              </a:rPr>
              <a:t>1.2 – Define the architecture of the </a:t>
            </a:r>
            <a:r>
              <a:rPr lang="en-US" sz="2000" b="1" dirty="0" smtClean="0">
                <a:solidFill>
                  <a:schemeClr val="tx1"/>
                </a:solidFill>
              </a:rPr>
              <a:t>application.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/>
                </a:solidFill>
              </a:rPr>
              <a:t>Activity </a:t>
            </a:r>
            <a:r>
              <a:rPr lang="en-US" sz="2000" b="1" dirty="0">
                <a:solidFill>
                  <a:schemeClr val="tx1"/>
                </a:solidFill>
              </a:rPr>
              <a:t>1.3 – Set up the development </a:t>
            </a:r>
            <a:r>
              <a:rPr lang="en-US" sz="2000" b="1" dirty="0" smtClean="0">
                <a:solidFill>
                  <a:schemeClr val="tx1"/>
                </a:solidFill>
              </a:rPr>
              <a:t>environment.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tx1"/>
                </a:solidFill>
                <a:latin typeface="Arial Black" panose="020B0A04020102020204" pitchFamily="34" charset="0"/>
              </a:rPr>
              <a:t>Milestone 2: Core Functionalities Development </a:t>
            </a:r>
            <a:r>
              <a:rPr lang="en-US" sz="2000" b="1" u="sng" dirty="0">
                <a:solidFill>
                  <a:schemeClr val="tx1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2.1 – Develop the core functionalities (outline, story, and image generation</a:t>
            </a:r>
            <a:r>
              <a:rPr lang="en-US" sz="2000" b="1" dirty="0" smtClean="0">
                <a:solidFill>
                  <a:schemeClr val="tx1"/>
                </a:solidFill>
              </a:rPr>
              <a:t>).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2.2 – Implement the </a:t>
            </a:r>
            <a:r>
              <a:rPr lang="en-US" sz="2000" b="1" dirty="0" err="1">
                <a:solidFill>
                  <a:schemeClr val="tx1"/>
                </a:solidFill>
              </a:rPr>
              <a:t>FastAPI</a:t>
            </a:r>
            <a:r>
              <a:rPr lang="en-US" sz="2000" b="1" dirty="0">
                <a:solidFill>
                  <a:schemeClr val="tx1"/>
                </a:solidFill>
              </a:rPr>
              <a:t> backend to manage routing and user input </a:t>
            </a:r>
            <a:r>
              <a:rPr lang="en-US" sz="2000" b="1" dirty="0" smtClean="0">
                <a:solidFill>
                  <a:schemeClr val="tx1"/>
                </a:solidFill>
              </a:rPr>
              <a:t>processing.</a:t>
            </a: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6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6941938" flipV="1">
            <a:off x="14169043" y="1300018"/>
            <a:ext cx="1230284" cy="45719"/>
          </a:xfrm>
        </p:spPr>
        <p:txBody>
          <a:bodyPr>
            <a:noAutofit/>
          </a:bodyPr>
          <a:lstStyle/>
          <a:p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384313"/>
            <a:ext cx="11741727" cy="5060223"/>
          </a:xfrm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</a:pPr>
            <a:endParaRPr lang="en-US" sz="2000" b="1" u="sng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Milestone 3: routes.py Development </a:t>
            </a:r>
            <a:r>
              <a:rPr lang="en-US" sz="2000" b="1" u="sng" dirty="0" smtClean="0">
                <a:solidFill>
                  <a:schemeClr val="tx1"/>
                </a:solidFill>
              </a:rPr>
              <a:t>:</a:t>
            </a:r>
            <a:endParaRPr lang="en-US" sz="2000" b="1" u="sng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3.1 – Write the main application logic in </a:t>
            </a:r>
            <a:r>
              <a:rPr lang="en-US" sz="2000" b="1" dirty="0" smtClean="0">
                <a:solidFill>
                  <a:schemeClr val="tx1"/>
                </a:solidFill>
              </a:rPr>
              <a:t>routes.py.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81000"/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tx1"/>
                </a:solidFill>
                <a:latin typeface="Arial Black" panose="020B0A04020102020204" pitchFamily="34" charset="0"/>
              </a:rPr>
              <a:t>Milestone 4: Frontend </a:t>
            </a:r>
            <a:r>
              <a:rPr lang="en-US" sz="2000" b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Development :</a:t>
            </a:r>
            <a:endParaRPr lang="en-US" sz="2000" b="1" u="sng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4.1 – Design and develop the user </a:t>
            </a:r>
            <a:r>
              <a:rPr lang="en-US" sz="2000" b="1" dirty="0" smtClean="0">
                <a:solidFill>
                  <a:schemeClr val="tx1"/>
                </a:solidFill>
              </a:rPr>
              <a:t>interface.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4.2 – Create dynamic templates with </a:t>
            </a:r>
            <a:r>
              <a:rPr lang="en-US" sz="2000" b="1" dirty="0" err="1">
                <a:solidFill>
                  <a:schemeClr val="tx1"/>
                </a:solidFill>
              </a:rPr>
              <a:t>FastAPI's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Jinja2.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tx1"/>
                </a:solidFill>
                <a:latin typeface="Arial Black" panose="020B0A04020102020204" pitchFamily="34" charset="0"/>
              </a:rPr>
              <a:t>Milestone 5: Deployment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5.1 – Prepare the application for local </a:t>
            </a:r>
            <a:r>
              <a:rPr lang="en-US" sz="2000" b="1" dirty="0" smtClean="0">
                <a:solidFill>
                  <a:schemeClr val="tx1"/>
                </a:solidFill>
              </a:rPr>
              <a:t>deployment.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Activity 5.2 – Test and verify local </a:t>
            </a:r>
            <a:r>
              <a:rPr lang="en-US" sz="2000" b="1" dirty="0" smtClean="0">
                <a:solidFill>
                  <a:schemeClr val="tx1"/>
                </a:solidFill>
              </a:rPr>
              <a:t>deployment.</a:t>
            </a:r>
            <a:endParaRPr lang="en-US" sz="20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2000" u="sng" dirty="0">
                <a:solidFill>
                  <a:srgbClr val="00B0F0"/>
                </a:solidFill>
                <a:latin typeface="Algerian" panose="04020705040A02060702" pitchFamily="82" charset="0"/>
              </a:rPr>
              <a:t>3. Execution Sequence </a:t>
            </a:r>
            <a:r>
              <a:rPr lang="en-US" sz="20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  <a:t>: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 u="sng" dirty="0">
                <a:solidFill>
                  <a:srgbClr val="00B0F0"/>
                </a:solidFill>
                <a:latin typeface="Algerian" panose="04020705040A02060702" pitchFamily="82" charset="0"/>
              </a:rPr>
              <a:t/>
            </a:r>
            <a:br>
              <a:rPr lang="en-US" sz="2000" u="sng" dirty="0">
                <a:solidFill>
                  <a:srgbClr val="00B0F0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chemeClr val="tx1"/>
                </a:solidFill>
              </a:rPr>
              <a:t>The milestones are executed in the following order, as each one builds on the outputs of the previous: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Model Selection and Architecture → establishes the AI models and system </a:t>
            </a:r>
            <a:r>
              <a:rPr lang="en-US" sz="2000" dirty="0" smtClean="0">
                <a:solidFill>
                  <a:schemeClr val="tx1"/>
                </a:solidFill>
              </a:rPr>
              <a:t>design.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Core Functionalities Development → builds the generation logic (outline, story, image</a:t>
            </a:r>
            <a:r>
              <a:rPr lang="en-US" sz="2000" dirty="0" smtClean="0">
                <a:solidFill>
                  <a:schemeClr val="tx1"/>
                </a:solidFill>
              </a:rPr>
              <a:t>).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routes.py Development → connects functionalities to accessible </a:t>
            </a:r>
            <a:r>
              <a:rPr lang="en-US" sz="2000" dirty="0" smtClean="0">
                <a:solidFill>
                  <a:schemeClr val="tx1"/>
                </a:solidFill>
              </a:rPr>
              <a:t>endpoints.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Frontend Development → builds the interface for users to interact with the </a:t>
            </a:r>
            <a:r>
              <a:rPr lang="en-US" sz="2000" dirty="0" smtClean="0">
                <a:solidFill>
                  <a:schemeClr val="tx1"/>
                </a:solidFill>
              </a:rPr>
              <a:t>system.</a:t>
            </a:r>
            <a:r>
              <a:rPr lang="en-US" sz="2000" u="sng" dirty="0">
                <a:solidFill>
                  <a:srgbClr val="00B0F0"/>
                </a:solidFill>
                <a:latin typeface="Algerian" panose="04020705040A02060702" pitchFamily="82" charset="0"/>
              </a:rPr>
              <a:t/>
            </a:r>
            <a:br>
              <a:rPr lang="en-US" sz="2000" u="sng" dirty="0">
                <a:solidFill>
                  <a:srgbClr val="00B0F0"/>
                </a:solidFill>
                <a:latin typeface="Algerian" panose="04020705040A02060702" pitchFamily="82" charset="0"/>
              </a:rPr>
            </a:br>
            <a:endParaRPr lang="en-US" sz="2000" dirty="0"/>
          </a:p>
          <a:p>
            <a:pPr marL="0" indent="0">
              <a:buClr>
                <a:schemeClr val="tx1"/>
              </a:buClr>
              <a:buNone/>
            </a:pPr>
            <a:endParaRPr lang="en-US" sz="2000" b="1" u="sng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21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93239" cy="399245"/>
          </a:xfrm>
        </p:spPr>
        <p:txBody>
          <a:bodyPr>
            <a:normAutofit fontScale="90000"/>
          </a:bodyPr>
          <a:lstStyle/>
          <a:p>
            <a:pPr marL="342900" indent="-342900">
              <a:buClr>
                <a:schemeClr val="accent1"/>
              </a:buClr>
              <a:buSzPct val="93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Deployment → prepares and verifies the working </a:t>
            </a:r>
            <a:r>
              <a:rPr lang="en-US" sz="2200" dirty="0" smtClean="0">
                <a:solidFill>
                  <a:schemeClr val="tx1"/>
                </a:solidFill>
              </a:rPr>
              <a:t>application.</a:t>
            </a:r>
            <a:r>
              <a:rPr lang="en-US" sz="24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  <a:t/>
            </a:r>
            <a:br>
              <a:rPr lang="en-US" sz="24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200" dirty="0" smtClean="0">
                <a:solidFill>
                  <a:schemeClr val="tx1"/>
                </a:solidFill>
              </a:rPr>
              <a:t/>
            </a:r>
            <a:br>
              <a:rPr lang="en-US" sz="2200" dirty="0" smtClean="0">
                <a:solidFill>
                  <a:schemeClr val="tx1"/>
                </a:solidFill>
              </a:rPr>
            </a:b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8187"/>
            <a:ext cx="12192000" cy="6672427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SzPct val="84000"/>
              <a:buFont typeface="Wingdings" panose="05000000000000000000" pitchFamily="2" charset="2"/>
              <a:buChar char="v"/>
            </a:pPr>
            <a:r>
              <a:rPr lang="en-US" sz="2600" u="sng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4.Resource Planning :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Development tools: Python, </a:t>
            </a:r>
            <a:r>
              <a:rPr lang="en-US" sz="2000" dirty="0" err="1">
                <a:solidFill>
                  <a:schemeClr val="tx1"/>
                </a:solidFill>
              </a:rPr>
              <a:t>FastAPI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Uvicorn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smtClean="0">
                <a:solidFill>
                  <a:schemeClr val="tx1"/>
                </a:solidFill>
              </a:rPr>
              <a:t>Jinja2.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Jinja2AI services: Google Gemini API (Flash and Pro), Hugging Face Diffusers (Stable Diffusion</a:t>
            </a:r>
            <a:r>
              <a:rPr lang="en-US" sz="2000" dirty="0" smtClean="0">
                <a:solidFill>
                  <a:schemeClr val="tx1"/>
                </a:solidFill>
              </a:rPr>
              <a:t>).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Supporting </a:t>
            </a:r>
            <a:r>
              <a:rPr lang="en-US" sz="2000" dirty="0">
                <a:solidFill>
                  <a:schemeClr val="tx1"/>
                </a:solidFill>
              </a:rPr>
              <a:t>libraries: FPDF, Pillow, python-multipart, </a:t>
            </a:r>
            <a:r>
              <a:rPr lang="en-US" sz="2000" dirty="0" smtClean="0">
                <a:solidFill>
                  <a:schemeClr val="tx1"/>
                </a:solidFill>
              </a:rPr>
              <a:t>accelerate.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Environment</a:t>
            </a:r>
            <a:r>
              <a:rPr lang="en-US" sz="2000" dirty="0">
                <a:solidFill>
                  <a:schemeClr val="tx1"/>
                </a:solidFill>
              </a:rPr>
              <a:t>: Python virtual environment (</a:t>
            </a:r>
            <a:r>
              <a:rPr lang="en-US" sz="2000" dirty="0" err="1">
                <a:solidFill>
                  <a:schemeClr val="tx1"/>
                </a:solidFill>
              </a:rPr>
              <a:t>comiccraft-env</a:t>
            </a:r>
            <a:r>
              <a:rPr lang="en-US" sz="2000" dirty="0">
                <a:solidFill>
                  <a:schemeClr val="tx1"/>
                </a:solidFill>
              </a:rPr>
              <a:t>) for dependency </a:t>
            </a:r>
            <a:r>
              <a:rPr lang="en-US" sz="2000" dirty="0" smtClean="0">
                <a:solidFill>
                  <a:schemeClr val="tx1"/>
                </a:solidFill>
              </a:rPr>
              <a:t>isolation.</a:t>
            </a:r>
            <a:endParaRPr lang="en-US" sz="2000" u="sng" dirty="0">
              <a:solidFill>
                <a:srgbClr val="00B0F0"/>
              </a:solidFill>
              <a:latin typeface="Algerian" panose="04020705040A02060702" pitchFamily="82" charset="0"/>
            </a:endParaRPr>
          </a:p>
          <a:p>
            <a:pPr>
              <a:buClr>
                <a:schemeClr val="tx1"/>
              </a:buClr>
              <a:buSzPct val="84000"/>
              <a:buFont typeface="Wingdings" panose="05000000000000000000" pitchFamily="2" charset="2"/>
              <a:buChar char="v"/>
            </a:pPr>
            <a:r>
              <a:rPr lang="en-US" sz="26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  <a:t>5.Tracking </a:t>
            </a:r>
            <a:r>
              <a:rPr lang="en-US" sz="2600" u="sng" dirty="0">
                <a:solidFill>
                  <a:srgbClr val="00B0F0"/>
                </a:solidFill>
                <a:latin typeface="Algerian" panose="04020705040A02060702" pitchFamily="82" charset="0"/>
              </a:rPr>
              <a:t>and Milestone Completion </a:t>
            </a:r>
            <a:r>
              <a:rPr lang="en-US" sz="26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  <a:t>Criteria :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Milestone 1 is complete when the AI models are finalized and the architecture is </a:t>
            </a:r>
            <a:r>
              <a:rPr lang="en-US" sz="2000" dirty="0" smtClean="0">
                <a:solidFill>
                  <a:schemeClr val="tx1"/>
                </a:solidFill>
              </a:rPr>
              <a:t>documented.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Milestone </a:t>
            </a:r>
            <a:r>
              <a:rPr lang="en-US" sz="2000" dirty="0">
                <a:solidFill>
                  <a:schemeClr val="tx1"/>
                </a:solidFill>
              </a:rPr>
              <a:t>2 is complete when outline, story, and image generation functions work </a:t>
            </a:r>
            <a:r>
              <a:rPr lang="en-US" sz="2000" dirty="0" smtClean="0">
                <a:solidFill>
                  <a:schemeClr val="tx1"/>
                </a:solidFill>
              </a:rPr>
              <a:t>independently.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Milestone </a:t>
            </a:r>
            <a:r>
              <a:rPr lang="en-US" sz="2000" dirty="0">
                <a:solidFill>
                  <a:schemeClr val="tx1"/>
                </a:solidFill>
              </a:rPr>
              <a:t>3 is complete when all routes are defined and correctly linked to backend </a:t>
            </a:r>
            <a:r>
              <a:rPr lang="en-US" sz="2000" dirty="0" smtClean="0">
                <a:solidFill>
                  <a:schemeClr val="tx1"/>
                </a:solidFill>
              </a:rPr>
              <a:t>functions.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Milestone </a:t>
            </a:r>
            <a:r>
              <a:rPr lang="en-US" sz="2000" dirty="0">
                <a:solidFill>
                  <a:schemeClr val="tx1"/>
                </a:solidFill>
              </a:rPr>
              <a:t>4 is complete when the UI can capture input and render the comic </a:t>
            </a:r>
            <a:r>
              <a:rPr lang="en-US" sz="2000" dirty="0" smtClean="0">
                <a:solidFill>
                  <a:schemeClr val="tx1"/>
                </a:solidFill>
              </a:rPr>
              <a:t>preview.</a:t>
            </a:r>
          </a:p>
          <a:p>
            <a:pPr>
              <a:buSzPct val="84000"/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</a:rPr>
              <a:t>Milestone </a:t>
            </a:r>
            <a:r>
              <a:rPr lang="en-US" sz="2000" dirty="0">
                <a:solidFill>
                  <a:schemeClr val="tx1"/>
                </a:solidFill>
              </a:rPr>
              <a:t>5 is complete when the application runs locally and passes basic </a:t>
            </a:r>
            <a:r>
              <a:rPr lang="en-US" sz="2000" dirty="0" smtClean="0">
                <a:solidFill>
                  <a:schemeClr val="tx1"/>
                </a:solidFill>
              </a:rPr>
              <a:t>testing.</a:t>
            </a:r>
          </a:p>
          <a:p>
            <a:pPr>
              <a:buClr>
                <a:schemeClr val="tx1"/>
              </a:buClr>
              <a:buSzPct val="84000"/>
              <a:buFont typeface="Wingdings" panose="05000000000000000000" pitchFamily="2" charset="2"/>
              <a:buChar char="v"/>
            </a:pPr>
            <a:r>
              <a:rPr lang="en-US" sz="2600" u="sng" dirty="0">
                <a:solidFill>
                  <a:srgbClr val="00B0F0"/>
                </a:solidFill>
                <a:latin typeface="Algerian" panose="04020705040A02060702" pitchFamily="82" charset="0"/>
              </a:rPr>
              <a:t>6. </a:t>
            </a:r>
            <a:r>
              <a:rPr lang="en-US" sz="2600" u="sng" dirty="0" smtClean="0">
                <a:solidFill>
                  <a:srgbClr val="00B0F0"/>
                </a:solidFill>
                <a:latin typeface="Algerian" panose="04020705040A02060702" pitchFamily="82" charset="0"/>
              </a:rPr>
              <a:t>Conclusion :</a:t>
            </a:r>
          </a:p>
          <a:p>
            <a:pPr marL="0" indent="0">
              <a:buSzPct val="84000"/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This </a:t>
            </a:r>
            <a:r>
              <a:rPr lang="en-US" sz="2200" dirty="0">
                <a:solidFill>
                  <a:schemeClr val="tx1"/>
                </a:solidFill>
              </a:rPr>
              <a:t>planning phase organizes the </a:t>
            </a:r>
            <a:r>
              <a:rPr lang="en-US" sz="2200" dirty="0" err="1">
                <a:solidFill>
                  <a:schemeClr val="tx1"/>
                </a:solidFill>
              </a:rPr>
              <a:t>ComicCraft</a:t>
            </a:r>
            <a:r>
              <a:rPr lang="en-US" sz="2200" dirty="0">
                <a:solidFill>
                  <a:schemeClr val="tx1"/>
                </a:solidFill>
              </a:rPr>
              <a:t> project into five sequential milestones, each with </a:t>
            </a:r>
            <a:r>
              <a:rPr lang="en-US" sz="2200" dirty="0" smtClean="0">
                <a:solidFill>
                  <a:schemeClr val="tx1"/>
                </a:solidFill>
              </a:rPr>
              <a:t>      clearly </a:t>
            </a:r>
            <a:r>
              <a:rPr lang="en-US" sz="2200" dirty="0">
                <a:solidFill>
                  <a:schemeClr val="tx1"/>
                </a:solidFill>
              </a:rPr>
              <a:t>defined activities and completion criteria. This structured plan ensures steady progress from initial architecture decisions through to a fully functional, locally deployed application, and directly guides the work carried out in the Project Development phase.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SzPct val="84000"/>
              <a:buNone/>
            </a:pPr>
            <a:endParaRPr lang="en-US" sz="2200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84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SzPct val="84000"/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76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131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</TotalTime>
  <Words>411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Algerian</vt:lpstr>
      <vt:lpstr>Arial</vt:lpstr>
      <vt:lpstr>Arial Black</vt:lpstr>
      <vt:lpstr>Trebuchet MS</vt:lpstr>
      <vt:lpstr>Wingdings</vt:lpstr>
      <vt:lpstr>Wingdings 3</vt:lpstr>
      <vt:lpstr>Facet</vt:lpstr>
      <vt:lpstr>Project Planning  </vt:lpstr>
      <vt:lpstr>PowerPoint Presentation</vt:lpstr>
      <vt:lpstr>Deployment → prepares and verifies the working application.  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Planning</dc:title>
  <dc:creator>MSCAS</dc:creator>
  <cp:lastModifiedBy>MSCAS</cp:lastModifiedBy>
  <cp:revision>12</cp:revision>
  <dcterms:created xsi:type="dcterms:W3CDTF">2026-09-24T04:57:10Z</dcterms:created>
  <dcterms:modified xsi:type="dcterms:W3CDTF">2026-09-24T06:37:25Z</dcterms:modified>
</cp:coreProperties>
</file>