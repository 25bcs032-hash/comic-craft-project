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640604" y="246531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3333CC"/>
                </a:solidFill>
                <a:latin typeface="Algerian" panose="04020705040A02060702" pitchFamily="82" charset="0"/>
              </a:rPr>
              <a:t>Project Design Phase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80745" y="1567331"/>
            <a:ext cx="8596668" cy="4621950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rgbClr val="0000FF"/>
                </a:solidFill>
                <a:latin typeface="Arial Black" panose="020B0A04020102020204" pitchFamily="34" charset="0"/>
              </a:rPr>
              <a:t>1. </a:t>
            </a:r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Purpose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</a:rPr>
              <a:t>With </a:t>
            </a:r>
            <a:r>
              <a:rPr lang="en-US" i="1" dirty="0">
                <a:solidFill>
                  <a:schemeClr val="tx1"/>
                </a:solidFill>
              </a:rPr>
              <a:t>the requirements defined in the previous phase, the Design Phase establishes how </a:t>
            </a:r>
            <a:r>
              <a:rPr lang="en-US" i="1" dirty="0" smtClean="0">
                <a:solidFill>
                  <a:schemeClr val="tx1"/>
                </a:solidFill>
              </a:rPr>
              <a:t>Comic Craft </a:t>
            </a:r>
            <a:r>
              <a:rPr lang="en-US" i="1" dirty="0">
                <a:solidFill>
                  <a:schemeClr val="tx1"/>
                </a:solidFill>
              </a:rPr>
              <a:t>will be built — its architecture, components, and how data flows through the system from user input to final comic output</a:t>
            </a:r>
            <a:r>
              <a:rPr lang="en-US" i="1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i="1" dirty="0" smtClean="0">
              <a:solidFill>
                <a:schemeClr val="tx1"/>
              </a:solidFill>
            </a:endParaRPr>
          </a:p>
          <a:p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2</a:t>
            </a:r>
            <a:r>
              <a:rPr lang="en-US" sz="2000" u="sng" dirty="0">
                <a:solidFill>
                  <a:srgbClr val="0000FF"/>
                </a:solidFill>
                <a:latin typeface="Arial Black" panose="020B0A04020102020204" pitchFamily="34" charset="0"/>
              </a:rPr>
              <a:t>. System </a:t>
            </a:r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Architecture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Comic Craft </a:t>
            </a:r>
            <a:r>
              <a:rPr lang="en-US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follows a three-layer architecture</a:t>
            </a:r>
            <a:r>
              <a:rPr lang="en-US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:</a:t>
            </a:r>
          </a:p>
          <a:p>
            <a:pPr marL="0" indent="0">
              <a:buNone/>
            </a:pPr>
            <a:endParaRPr lang="en-US" i="1" dirty="0" smtClean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Frontend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i="1" dirty="0">
                <a:solidFill>
                  <a:schemeClr val="tx1"/>
                </a:solidFill>
              </a:rPr>
              <a:t>HTML, CSS, and Jinja2 templates for user input and comic </a:t>
            </a:r>
            <a:r>
              <a:rPr lang="en-US" i="1" dirty="0" smtClean="0">
                <a:solidFill>
                  <a:schemeClr val="tx1"/>
                </a:solidFill>
              </a:rPr>
              <a:t>display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Backend </a:t>
            </a:r>
            <a:r>
              <a:rPr lang="en-US" dirty="0"/>
              <a:t>– </a:t>
            </a:r>
            <a:r>
              <a:rPr lang="en-US" i="1" dirty="0" smtClean="0">
                <a:solidFill>
                  <a:schemeClr val="tx1"/>
                </a:solidFill>
              </a:rPr>
              <a:t>Fast API </a:t>
            </a:r>
            <a:r>
              <a:rPr lang="en-US" i="1" dirty="0">
                <a:solidFill>
                  <a:schemeClr val="tx1"/>
                </a:solidFill>
              </a:rPr>
              <a:t>application handling requests, routing, and </a:t>
            </a:r>
            <a:r>
              <a:rPr lang="en-US" i="1" dirty="0" smtClean="0">
                <a:solidFill>
                  <a:schemeClr val="tx1"/>
                </a:solidFill>
              </a:rPr>
              <a:t>coordination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AI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Integration Layer </a:t>
            </a:r>
            <a:r>
              <a:rPr lang="en-US" dirty="0"/>
              <a:t>– </a:t>
            </a:r>
            <a:r>
              <a:rPr lang="en-US" i="1" dirty="0">
                <a:solidFill>
                  <a:schemeClr val="tx1"/>
                </a:solidFill>
              </a:rPr>
              <a:t>Google Gemini (Flash and Pro) for text generation, Stable Diffusion for image generation</a:t>
            </a:r>
          </a:p>
        </p:txBody>
      </p:sp>
    </p:spTree>
    <p:extLst>
      <p:ext uri="{BB962C8B-B14F-4D97-AF65-F5344CB8AC3E}">
        <p14:creationId xmlns:p14="http://schemas.microsoft.com/office/powerpoint/2010/main" val="14517964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4294967295"/>
          </p:nvPr>
        </p:nvSpPr>
        <p:spPr>
          <a:xfrm>
            <a:off x="1156446" y="282388"/>
            <a:ext cx="9245600" cy="6871447"/>
          </a:xfrm>
        </p:spPr>
        <p:txBody>
          <a:bodyPr>
            <a:normAutofit fontScale="70000" lnSpcReduction="20000"/>
          </a:bodyPr>
          <a:lstStyle/>
          <a:p>
            <a:r>
              <a:rPr lang="en-US" sz="2600" u="sng" dirty="0">
                <a:solidFill>
                  <a:srgbClr val="0000FF"/>
                </a:solidFill>
                <a:latin typeface="Arial Black" panose="020B0A04020102020204" pitchFamily="34" charset="0"/>
              </a:rPr>
              <a:t>3. Component </a:t>
            </a:r>
            <a:r>
              <a:rPr lang="en-US" sz="26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Responsibilities</a:t>
            </a:r>
          </a:p>
          <a:p>
            <a:pPr marL="0" indent="0">
              <a:buNone/>
            </a:pPr>
            <a:r>
              <a:rPr lang="en-US" sz="26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Frontend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Collects </a:t>
            </a:r>
            <a:r>
              <a:rPr lang="en-US" sz="2000" i="1" dirty="0">
                <a:solidFill>
                  <a:schemeClr val="tx1"/>
                </a:solidFill>
              </a:rPr>
              <a:t>user inputs (story prompt, character name, setting, tone, art style) via </a:t>
            </a:r>
            <a:r>
              <a:rPr lang="en-US" sz="2000" i="1" dirty="0" smtClean="0">
                <a:solidFill>
                  <a:schemeClr val="tx1"/>
                </a:solidFill>
              </a:rPr>
              <a:t>index.html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Displays </a:t>
            </a:r>
            <a:r>
              <a:rPr lang="en-US" sz="2000" i="1" dirty="0">
                <a:solidFill>
                  <a:schemeClr val="tx1"/>
                </a:solidFill>
              </a:rPr>
              <a:t>the generated comic via </a:t>
            </a:r>
            <a:r>
              <a:rPr lang="en-US" sz="2000" i="1" dirty="0" smtClean="0">
                <a:solidFill>
                  <a:schemeClr val="tx1"/>
                </a:solidFill>
              </a:rPr>
              <a:t>comic_preview.html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Shows </a:t>
            </a:r>
            <a:r>
              <a:rPr lang="en-US" sz="2000" i="1" dirty="0">
                <a:solidFill>
                  <a:schemeClr val="tx1"/>
                </a:solidFill>
              </a:rPr>
              <a:t>export confirmation via </a:t>
            </a:r>
            <a:r>
              <a:rPr lang="en-US" sz="2000" i="1" dirty="0" smtClean="0">
                <a:solidFill>
                  <a:schemeClr val="tx1"/>
                </a:solidFill>
              </a:rPr>
              <a:t>export_success.html</a:t>
            </a:r>
          </a:p>
          <a:p>
            <a:pPr marL="0" indent="0">
              <a:buNone/>
            </a:pPr>
            <a:r>
              <a:rPr lang="en-US" sz="26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Backend </a:t>
            </a:r>
            <a:r>
              <a:rPr lang="en-US" sz="26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(</a:t>
            </a:r>
            <a:r>
              <a:rPr lang="en-US" sz="26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Fast API)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Receives </a:t>
            </a:r>
            <a:r>
              <a:rPr lang="en-US" sz="2000" i="1" dirty="0">
                <a:solidFill>
                  <a:schemeClr val="tx1"/>
                </a:solidFill>
              </a:rPr>
              <a:t>form-based or JSON </a:t>
            </a:r>
            <a:r>
              <a:rPr lang="en-US" sz="2000" i="1" dirty="0" smtClean="0">
                <a:solidFill>
                  <a:schemeClr val="tx1"/>
                </a:solidFill>
              </a:rPr>
              <a:t>input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Routes </a:t>
            </a:r>
            <a:r>
              <a:rPr lang="en-US" sz="2000" i="1" dirty="0">
                <a:solidFill>
                  <a:schemeClr val="tx1"/>
                </a:solidFill>
              </a:rPr>
              <a:t>requests to the correct AI-processing </a:t>
            </a:r>
            <a:r>
              <a:rPr lang="en-US" sz="2000" i="1" dirty="0" smtClean="0">
                <a:solidFill>
                  <a:schemeClr val="tx1"/>
                </a:solidFill>
              </a:rPr>
              <a:t>functions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Assembles </a:t>
            </a:r>
            <a:r>
              <a:rPr lang="en-US" sz="2000" i="1" dirty="0">
                <a:solidFill>
                  <a:schemeClr val="tx1"/>
                </a:solidFill>
              </a:rPr>
              <a:t>the final comic </a:t>
            </a:r>
            <a:r>
              <a:rPr lang="en-US" sz="2000" i="1" dirty="0" smtClean="0">
                <a:solidFill>
                  <a:schemeClr val="tx1"/>
                </a:solidFill>
              </a:rPr>
              <a:t>layout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Triggers </a:t>
            </a:r>
            <a:r>
              <a:rPr lang="en-US" sz="2000" i="1" dirty="0">
                <a:solidFill>
                  <a:schemeClr val="tx1"/>
                </a:solidFill>
              </a:rPr>
              <a:t>PDF </a:t>
            </a:r>
            <a:r>
              <a:rPr lang="en-US" sz="2000" i="1" dirty="0" smtClean="0">
                <a:solidFill>
                  <a:schemeClr val="tx1"/>
                </a:solidFill>
              </a:rPr>
              <a:t>export</a:t>
            </a:r>
          </a:p>
          <a:p>
            <a:pPr marL="0" indent="0">
              <a:buNone/>
            </a:pPr>
            <a:r>
              <a:rPr lang="en-US" sz="26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AI Layer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Gemini </a:t>
            </a:r>
            <a:r>
              <a:rPr lang="en-US" sz="2000" i="1" dirty="0">
                <a:solidFill>
                  <a:schemeClr val="tx1"/>
                </a:solidFill>
              </a:rPr>
              <a:t>Flash → generates the structured panel-by-panel </a:t>
            </a:r>
            <a:r>
              <a:rPr lang="en-US" sz="2000" i="1" dirty="0" smtClean="0">
                <a:solidFill>
                  <a:schemeClr val="tx1"/>
                </a:solidFill>
              </a:rPr>
              <a:t>outline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Gemini </a:t>
            </a:r>
            <a:r>
              <a:rPr lang="en-US" sz="2000" i="1" dirty="0">
                <a:solidFill>
                  <a:schemeClr val="tx1"/>
                </a:solidFill>
              </a:rPr>
              <a:t>Pro → expands the outline into full narration and </a:t>
            </a:r>
            <a:r>
              <a:rPr lang="en-US" sz="2000" i="1" dirty="0" smtClean="0">
                <a:solidFill>
                  <a:schemeClr val="tx1"/>
                </a:solidFill>
              </a:rPr>
              <a:t>dialogue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i="1" dirty="0" smtClean="0">
                <a:solidFill>
                  <a:schemeClr val="tx1"/>
                </a:solidFill>
              </a:rPr>
              <a:t>Stable </a:t>
            </a:r>
            <a:r>
              <a:rPr lang="en-US" sz="2000" i="1" dirty="0">
                <a:solidFill>
                  <a:schemeClr val="tx1"/>
                </a:solidFill>
              </a:rPr>
              <a:t>Diffusion → generates the illustration for each </a:t>
            </a:r>
            <a:r>
              <a:rPr lang="en-US" sz="2000" i="1" dirty="0" smtClean="0">
                <a:solidFill>
                  <a:schemeClr val="tx1"/>
                </a:solidFill>
              </a:rPr>
              <a:t>panel</a:t>
            </a:r>
          </a:p>
          <a:p>
            <a:r>
              <a:rPr lang="en-US" sz="26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4</a:t>
            </a:r>
            <a:r>
              <a:rPr lang="en-US" sz="2600" u="sng" dirty="0">
                <a:solidFill>
                  <a:srgbClr val="0000FF"/>
                </a:solidFill>
                <a:latin typeface="Arial Black" panose="020B0A04020102020204" pitchFamily="34" charset="0"/>
              </a:rPr>
              <a:t>. Module </a:t>
            </a:r>
            <a:r>
              <a:rPr lang="en-US" sz="26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Design</a:t>
            </a:r>
          </a:p>
          <a:p>
            <a:pPr marL="0" indent="0">
              <a:buNone/>
            </a:pPr>
            <a:r>
              <a:rPr lang="en-US" sz="23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Each </a:t>
            </a:r>
            <a:r>
              <a:rPr lang="en-US" sz="2300" i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responsibility is separated into its own file for clarity and reusability</a:t>
            </a:r>
            <a:r>
              <a:rPr lang="en-US" sz="2300" i="1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i="1" dirty="0" smtClean="0">
                <a:solidFill>
                  <a:schemeClr val="tx1"/>
                </a:solidFill>
              </a:rPr>
              <a:t>gemini_flash.py </a:t>
            </a:r>
            <a:r>
              <a:rPr lang="en-US" sz="2200" i="1" dirty="0">
                <a:solidFill>
                  <a:schemeClr val="tx1"/>
                </a:solidFill>
              </a:rPr>
              <a:t>→ </a:t>
            </a:r>
            <a:r>
              <a:rPr lang="en-US" sz="2200" i="1" dirty="0" smtClean="0">
                <a:solidFill>
                  <a:schemeClr val="tx1"/>
                </a:solidFill>
              </a:rPr>
              <a:t>generate _ outline()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i="1" dirty="0" smtClean="0">
                <a:solidFill>
                  <a:schemeClr val="tx1"/>
                </a:solidFill>
              </a:rPr>
              <a:t>gemini_pro.py </a:t>
            </a:r>
            <a:r>
              <a:rPr lang="en-US" sz="2200" i="1" dirty="0">
                <a:solidFill>
                  <a:schemeClr val="tx1"/>
                </a:solidFill>
              </a:rPr>
              <a:t>→ </a:t>
            </a:r>
            <a:r>
              <a:rPr lang="en-US" sz="2200" i="1" dirty="0" smtClean="0">
                <a:solidFill>
                  <a:schemeClr val="tx1"/>
                </a:solidFill>
              </a:rPr>
              <a:t>generate _ story()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i="1" dirty="0" smtClean="0">
                <a:solidFill>
                  <a:schemeClr val="tx1"/>
                </a:solidFill>
              </a:rPr>
              <a:t>image_generator.py </a:t>
            </a:r>
            <a:r>
              <a:rPr lang="en-US" sz="2200" i="1" dirty="0">
                <a:solidFill>
                  <a:schemeClr val="tx1"/>
                </a:solidFill>
              </a:rPr>
              <a:t>→ </a:t>
            </a:r>
            <a:r>
              <a:rPr lang="en-US" sz="2200" i="1" dirty="0" smtClean="0">
                <a:solidFill>
                  <a:schemeClr val="tx1"/>
                </a:solidFill>
              </a:rPr>
              <a:t>generate _ image()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i="1" dirty="0" smtClean="0">
                <a:solidFill>
                  <a:schemeClr val="tx1"/>
                </a:solidFill>
              </a:rPr>
              <a:t>layout_builder.py </a:t>
            </a:r>
            <a:r>
              <a:rPr lang="en-US" sz="2200" i="1" dirty="0">
                <a:solidFill>
                  <a:schemeClr val="tx1"/>
                </a:solidFill>
              </a:rPr>
              <a:t>→ </a:t>
            </a:r>
            <a:r>
              <a:rPr lang="en-US" sz="2200" i="1" dirty="0" smtClean="0">
                <a:solidFill>
                  <a:schemeClr val="tx1"/>
                </a:solidFill>
              </a:rPr>
              <a:t>build _ comic _ layout()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i="1" dirty="0" smtClean="0">
                <a:solidFill>
                  <a:schemeClr val="tx1"/>
                </a:solidFill>
              </a:rPr>
              <a:t>exporters.py </a:t>
            </a:r>
            <a:r>
              <a:rPr lang="en-US" sz="2200" i="1" dirty="0">
                <a:solidFill>
                  <a:schemeClr val="tx1"/>
                </a:solidFill>
              </a:rPr>
              <a:t>→ </a:t>
            </a:r>
            <a:r>
              <a:rPr lang="en-US" sz="2200" i="1" dirty="0" smtClean="0">
                <a:solidFill>
                  <a:schemeClr val="tx1"/>
                </a:solidFill>
              </a:rPr>
              <a:t>save _ pdf</a:t>
            </a:r>
            <a:r>
              <a:rPr lang="en-US" sz="2200" i="1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47143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35424" y="416860"/>
            <a:ext cx="9211235" cy="5997388"/>
          </a:xfrm>
        </p:spPr>
        <p:txBody>
          <a:bodyPr>
            <a:normAutofit fontScale="92500" lnSpcReduction="20000"/>
          </a:bodyPr>
          <a:lstStyle/>
          <a:p>
            <a:r>
              <a:rPr lang="en-US" sz="2000" u="sng" dirty="0">
                <a:solidFill>
                  <a:srgbClr val="0000FF"/>
                </a:solidFill>
                <a:latin typeface="Arial Black" panose="020B0A04020102020204" pitchFamily="34" charset="0"/>
              </a:rPr>
              <a:t>5. Data </a:t>
            </a:r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Flow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User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submits story details through the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form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Backend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calls Gemini Flash to create the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outline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Backend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calls Gemini Pro to generate narration and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dialogue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Backend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calls Stable Diffusion for each panel's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Layout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builder combines text and images into one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structure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User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previews the comic, then exports it as a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PDF</a:t>
            </a:r>
          </a:p>
          <a:p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6</a:t>
            </a:r>
            <a:r>
              <a:rPr lang="en-US" sz="2000" u="sng" dirty="0">
                <a:solidFill>
                  <a:srgbClr val="0000FF"/>
                </a:solidFill>
                <a:latin typeface="Arial Black" panose="020B0A04020102020204" pitchFamily="34" charset="0"/>
              </a:rPr>
              <a:t>. Design </a:t>
            </a:r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Considerations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Modular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structure allows each AI step (outline, story, image) to be tested or replaced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independently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Separate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routes (/generate, /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generate-comic/</a:t>
            </a:r>
            <a:r>
              <a:rPr lang="en-US" sz="1900" i="1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json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/test-image) support both browser and API-based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Clear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separation between frontend, backend, and AI layers keeps the system easy to maintain and </a:t>
            </a: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extend</a:t>
            </a:r>
          </a:p>
          <a:p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7</a:t>
            </a:r>
            <a:r>
              <a:rPr lang="en-US" sz="2000" u="sng" dirty="0">
                <a:solidFill>
                  <a:srgbClr val="0000FF"/>
                </a:solidFill>
                <a:latin typeface="Arial Black" panose="020B0A04020102020204" pitchFamily="34" charset="0"/>
              </a:rPr>
              <a:t>. </a:t>
            </a:r>
            <a:r>
              <a:rPr lang="en-US" sz="2000" u="sng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Conclusion</a:t>
            </a:r>
          </a:p>
          <a:p>
            <a:pPr marL="0" indent="0">
              <a:buNone/>
            </a:pPr>
            <a:r>
              <a:rPr lang="en-US" sz="1900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This </a:t>
            </a:r>
            <a:r>
              <a:rPr lang="en-US" sz="1900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design phase translates the project requirements into a concrete blueprint — defining how the frontend, backend, and AI models connect and work together to produce a finished comic. This blueprint directly guides the implementation carried out in the Project Development phase.</a:t>
            </a:r>
          </a:p>
        </p:txBody>
      </p:sp>
    </p:spTree>
    <p:extLst>
      <p:ext uri="{BB962C8B-B14F-4D97-AF65-F5344CB8AC3E}">
        <p14:creationId xmlns:p14="http://schemas.microsoft.com/office/powerpoint/2010/main" val="1878840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406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 Unicode MS</vt:lpstr>
      <vt:lpstr>Algerian</vt:lpstr>
      <vt:lpstr>Arial</vt:lpstr>
      <vt:lpstr>Arial Black</vt:lpstr>
      <vt:lpstr>Arial Rounded MT Bold</vt:lpstr>
      <vt:lpstr>Trebuchet MS</vt:lpstr>
      <vt:lpstr>Wingdings</vt:lpstr>
      <vt:lpstr>Wingdings 3</vt:lpstr>
      <vt:lpstr>Facet</vt:lpstr>
      <vt:lpstr>Project Design Phase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Phase</dc:title>
  <dc:creator>mscas</dc:creator>
  <cp:lastModifiedBy>mscas</cp:lastModifiedBy>
  <cp:revision>7</cp:revision>
  <dcterms:created xsi:type="dcterms:W3CDTF">2026-09-24T04:43:08Z</dcterms:created>
  <dcterms:modified xsi:type="dcterms:W3CDTF">2026-09-24T05:42:11Z</dcterms:modified>
</cp:coreProperties>
</file>