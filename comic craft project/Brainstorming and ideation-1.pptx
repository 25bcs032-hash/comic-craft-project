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CC00FF"/>
    <a:srgbClr val="0066FF"/>
    <a:srgbClr val="2091A0"/>
    <a:srgbClr val="66FFFF"/>
    <a:srgbClr val="3333CC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1" d="100"/>
          <a:sy n="71" d="100"/>
        </p:scale>
        <p:origin x="618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9/23/2026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9/23/2026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9/23/2026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9/23/2026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9/23/2026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9/23/2026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5" r:id="rId2"/>
    <p:sldLayoutId id="2147483651" r:id="rId3"/>
    <p:sldLayoutId id="2147483666" r:id="rId4"/>
    <p:sldLayoutId id="2147483653" r:id="rId5"/>
    <p:sldLayoutId id="2147483654" r:id="rId6"/>
    <p:sldLayoutId id="2147483655" r:id="rId7"/>
    <p:sldLayoutId id="2147483667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95144" y="246530"/>
            <a:ext cx="9771031" cy="1320800"/>
          </a:xfrm>
        </p:spPr>
        <p:txBody>
          <a:bodyPr/>
          <a:lstStyle/>
          <a:p>
            <a:r>
              <a:rPr lang="en-US" sz="3200" dirty="0">
                <a:solidFill>
                  <a:srgbClr val="0000CC"/>
                </a:solidFill>
                <a:latin typeface="Algerian" panose="04020705040A02060702" pitchFamily="82" charset="0"/>
              </a:rPr>
              <a:t>Brainstorming and ideation 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053852" y="1250577"/>
            <a:ext cx="8596668" cy="5607423"/>
          </a:xfrm>
        </p:spPr>
        <p:txBody>
          <a:bodyPr>
            <a:normAutofit fontScale="92500" lnSpcReduction="20000"/>
          </a:bodyPr>
          <a:lstStyle/>
          <a:p>
            <a:r>
              <a:rPr lang="en-US" sz="1900" u="sng" dirty="0">
                <a:solidFill>
                  <a:srgbClr val="0066FF"/>
                </a:solidFill>
                <a:latin typeface="Arial Black" panose="020B0A04020102020204" pitchFamily="34" charset="0"/>
              </a:rPr>
              <a:t>The </a:t>
            </a:r>
            <a:r>
              <a:rPr lang="en-US" sz="1900" u="sng" dirty="0" smtClean="0">
                <a:solidFill>
                  <a:srgbClr val="0066FF"/>
                </a:solidFill>
                <a:latin typeface="Arial Black" panose="020B0A04020102020204" pitchFamily="34" charset="0"/>
              </a:rPr>
              <a:t>Problem </a:t>
            </a:r>
            <a:r>
              <a:rPr lang="en-US" sz="1900" u="sng" smtClean="0">
                <a:solidFill>
                  <a:srgbClr val="0066FF"/>
                </a:solidFill>
                <a:latin typeface="Arial Black" panose="020B0A04020102020204" pitchFamily="34" charset="0"/>
              </a:rPr>
              <a:t>We  </a:t>
            </a:r>
            <a:r>
              <a:rPr lang="en-US" sz="1900" u="sng" dirty="0" smtClean="0">
                <a:solidFill>
                  <a:srgbClr val="0066FF"/>
                </a:solidFill>
                <a:latin typeface="Arial Black" panose="020B0A04020102020204" pitchFamily="34" charset="0"/>
              </a:rPr>
              <a:t>Noticed</a:t>
            </a:r>
            <a:r>
              <a:rPr lang="en-US" dirty="0"/>
              <a:t>: </a:t>
            </a:r>
            <a:r>
              <a:rPr lang="en-US" b="1" i="1" dirty="0">
                <a:solidFill>
                  <a:schemeClr val="tx1"/>
                </a:solidFill>
                <a:latin typeface="Bookman Old Style" panose="02050604050505020204" pitchFamily="18" charset="0"/>
              </a:rPr>
              <a:t>Making a comic normally takes writing skill and drawing skill — most people have neither, so they never make one</a:t>
            </a:r>
            <a:r>
              <a:rPr lang="en-US" b="1" i="1" dirty="0" smtClean="0">
                <a:solidFill>
                  <a:schemeClr val="tx1"/>
                </a:solidFill>
                <a:latin typeface="Bookman Old Style" panose="02050604050505020204" pitchFamily="18" charset="0"/>
              </a:rPr>
              <a:t>.</a:t>
            </a:r>
          </a:p>
          <a:p>
            <a:pPr marL="0" indent="0">
              <a:buNone/>
            </a:pPr>
            <a:endParaRPr lang="en-US" b="1" dirty="0" smtClean="0">
              <a:solidFill>
                <a:schemeClr val="tx1"/>
              </a:solidFill>
              <a:latin typeface="Bookman Old Style" panose="02050604050505020204" pitchFamily="18" charset="0"/>
            </a:endParaRPr>
          </a:p>
          <a:p>
            <a:r>
              <a:rPr lang="en-US" sz="1900" u="sng" dirty="0" smtClean="0">
                <a:solidFill>
                  <a:srgbClr val="0066FF"/>
                </a:solidFill>
                <a:latin typeface="Arial Black" panose="020B0A04020102020204" pitchFamily="34" charset="0"/>
              </a:rPr>
              <a:t>The Idea</a:t>
            </a:r>
            <a:r>
              <a:rPr lang="en-US" dirty="0"/>
              <a:t>: </a:t>
            </a:r>
            <a:r>
              <a:rPr lang="en-US" b="1" i="1" dirty="0">
                <a:solidFill>
                  <a:schemeClr val="tx1"/>
                </a:solidFill>
                <a:latin typeface="Bookman Old Style" panose="02050604050505020204" pitchFamily="18" charset="0"/>
              </a:rPr>
              <a:t>What if AI could do both parts? Let a user type a simple prompt, and AI handles the story and the artwork</a:t>
            </a:r>
            <a:r>
              <a:rPr lang="en-US" b="1" i="1" dirty="0" smtClean="0">
                <a:solidFill>
                  <a:schemeClr val="tx1"/>
                </a:solidFill>
                <a:latin typeface="Bookman Old Style" panose="02050604050505020204" pitchFamily="18" charset="0"/>
              </a:rPr>
              <a:t>.</a:t>
            </a:r>
          </a:p>
          <a:p>
            <a:pPr marL="0" indent="0">
              <a:buNone/>
            </a:pPr>
            <a:endParaRPr lang="en-US" i="1" dirty="0" smtClean="0">
              <a:latin typeface="Bookman Old Style" panose="02050604050505020204" pitchFamily="18" charset="0"/>
            </a:endParaRPr>
          </a:p>
          <a:p>
            <a:r>
              <a:rPr lang="en-US" sz="1900" u="sng" dirty="0" smtClean="0">
                <a:solidFill>
                  <a:srgbClr val="0066FF"/>
                </a:solidFill>
                <a:latin typeface="Arial Black" panose="020B0A04020102020204" pitchFamily="34" charset="0"/>
              </a:rPr>
              <a:t>Why It's Worth Building</a:t>
            </a:r>
            <a:r>
              <a:rPr lang="en-US" dirty="0"/>
              <a:t>: </a:t>
            </a:r>
            <a:r>
              <a:rPr lang="en-US" b="1" i="1" dirty="0">
                <a:solidFill>
                  <a:schemeClr val="tx1">
                    <a:lumMod val="95000"/>
                    <a:lumOff val="5000"/>
                  </a:schemeClr>
                </a:solidFill>
                <a:latin typeface="Bookman Old Style" panose="02050604050505020204" pitchFamily="18" charset="0"/>
              </a:rPr>
              <a:t>It makes comic creation accessible to non-artists, casual users, hobbyists — people who have a story in their head but no way to visualize it</a:t>
            </a:r>
            <a:r>
              <a:rPr lang="en-US" b="1" i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Bookman Old Style" panose="02050604050505020204" pitchFamily="18" charset="0"/>
              </a:rPr>
              <a:t>.</a:t>
            </a:r>
          </a:p>
          <a:p>
            <a:pPr marL="0" indent="0">
              <a:buNone/>
            </a:pPr>
            <a:endParaRPr lang="en-US" dirty="0" smtClean="0"/>
          </a:p>
          <a:p>
            <a:r>
              <a:rPr lang="en-US" sz="1900" u="sng" dirty="0" smtClean="0">
                <a:solidFill>
                  <a:srgbClr val="0066FF"/>
                </a:solidFill>
                <a:latin typeface="Arial Black" panose="020B0A04020102020204" pitchFamily="34" charset="0"/>
              </a:rPr>
              <a:t>Rough Concept Sketch</a:t>
            </a:r>
            <a:r>
              <a:rPr lang="en-US" dirty="0"/>
              <a:t>: </a:t>
            </a:r>
            <a:r>
              <a:rPr lang="en-US" sz="1900" b="1" i="1" dirty="0">
                <a:solidFill>
                  <a:schemeClr val="tx1">
                    <a:lumMod val="95000"/>
                    <a:lumOff val="5000"/>
                  </a:schemeClr>
                </a:solidFill>
                <a:latin typeface="Bookman Old Style" panose="02050604050505020204" pitchFamily="18" charset="0"/>
              </a:rPr>
              <a:t>User enters a prompt → AI writes a panel-by-panel story → AI generates matching images → user gets a downloadable comic</a:t>
            </a:r>
            <a:r>
              <a:rPr lang="en-US" sz="1900" b="1" i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Bookman Old Style" panose="02050604050505020204" pitchFamily="18" charset="0"/>
              </a:rPr>
              <a:t>.</a:t>
            </a:r>
          </a:p>
          <a:p>
            <a:pPr marL="0" indent="0">
              <a:buNone/>
            </a:pPr>
            <a:endParaRPr lang="en-US" sz="1900" dirty="0" smtClean="0">
              <a:latin typeface="Bookman Old Style" panose="02050604050505020204" pitchFamily="18" charset="0"/>
            </a:endParaRPr>
          </a:p>
          <a:p>
            <a:r>
              <a:rPr lang="en-US" sz="1900" u="sng" dirty="0" smtClean="0">
                <a:solidFill>
                  <a:srgbClr val="0066FF"/>
                </a:solidFill>
                <a:latin typeface="Arial Black" panose="020B0A04020102020204" pitchFamily="34" charset="0"/>
              </a:rPr>
              <a:t>Alternatives </a:t>
            </a:r>
            <a:r>
              <a:rPr lang="en-US" sz="1900" u="sng" dirty="0">
                <a:solidFill>
                  <a:srgbClr val="0066FF"/>
                </a:solidFill>
                <a:latin typeface="Arial Black" panose="020B0A04020102020204" pitchFamily="34" charset="0"/>
              </a:rPr>
              <a:t>considered </a:t>
            </a:r>
            <a:r>
              <a:rPr lang="en-US" dirty="0" smtClean="0"/>
              <a:t> </a:t>
            </a:r>
            <a:r>
              <a:rPr lang="en-US" sz="1900" b="1" i="1" dirty="0">
                <a:solidFill>
                  <a:schemeClr val="tx1">
                    <a:lumMod val="95000"/>
                    <a:lumOff val="5000"/>
                  </a:schemeClr>
                </a:solidFill>
                <a:latin typeface="Bookman Old Style" panose="02050604050505020204" pitchFamily="18" charset="0"/>
              </a:rPr>
              <a:t>e.g., could </a:t>
            </a:r>
            <a:r>
              <a:rPr lang="en-US" sz="1900" b="1" i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Bookman Old Style" panose="02050604050505020204" pitchFamily="18" charset="0"/>
              </a:rPr>
              <a:t>we </a:t>
            </a:r>
            <a:r>
              <a:rPr lang="en-US" sz="1900" b="1" i="1" dirty="0">
                <a:solidFill>
                  <a:schemeClr val="tx1">
                    <a:lumMod val="95000"/>
                    <a:lumOff val="5000"/>
                  </a:schemeClr>
                </a:solidFill>
                <a:latin typeface="Bookman Old Style" panose="02050604050505020204" pitchFamily="18" charset="0"/>
              </a:rPr>
              <a:t>use a single all-in-one AI model instead of separating story generation and image generation? Why did </a:t>
            </a:r>
            <a:r>
              <a:rPr lang="en-US" sz="1900" b="1" i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Bookman Old Style" panose="02050604050505020204" pitchFamily="18" charset="0"/>
              </a:rPr>
              <a:t>we </a:t>
            </a:r>
            <a:r>
              <a:rPr lang="en-US" sz="1900" b="1" i="1" dirty="0">
                <a:solidFill>
                  <a:schemeClr val="tx1">
                    <a:lumMod val="95000"/>
                    <a:lumOff val="5000"/>
                  </a:schemeClr>
                </a:solidFill>
                <a:latin typeface="Bookman Old Style" panose="02050604050505020204" pitchFamily="18" charset="0"/>
              </a:rPr>
              <a:t>land on combining Gemini + Stable Diffusion instead?</a:t>
            </a:r>
          </a:p>
        </p:txBody>
      </p:sp>
    </p:spTree>
    <p:extLst>
      <p:ext uri="{BB962C8B-B14F-4D97-AF65-F5344CB8AC3E}">
        <p14:creationId xmlns:p14="http://schemas.microsoft.com/office/powerpoint/2010/main" val="3316701486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70</TotalTime>
  <Words>150</Words>
  <Application>Microsoft Office PowerPoint</Application>
  <PresentationFormat>Widescreen</PresentationFormat>
  <Paragraphs>10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Algerian</vt:lpstr>
      <vt:lpstr>Arial</vt:lpstr>
      <vt:lpstr>Arial Black</vt:lpstr>
      <vt:lpstr>Bookman Old Style</vt:lpstr>
      <vt:lpstr>Trebuchet MS</vt:lpstr>
      <vt:lpstr>Wingdings 3</vt:lpstr>
      <vt:lpstr>Facet</vt:lpstr>
      <vt:lpstr>Brainstorming and ideation 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Brainstorming and ideation phase</dc:title>
  <dc:creator>mscas</dc:creator>
  <cp:lastModifiedBy>mscas</cp:lastModifiedBy>
  <cp:revision>8</cp:revision>
  <dcterms:created xsi:type="dcterms:W3CDTF">2026-09-23T06:59:20Z</dcterms:created>
  <dcterms:modified xsi:type="dcterms:W3CDTF">2026-09-23T08:09:45Z</dcterms:modified>
</cp:coreProperties>
</file>