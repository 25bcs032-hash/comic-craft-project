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autoCompressPictures="0">
  <p:sldMasterIdLst>
    <p:sldMasterId id="2147483648" r:id="rId1"/>
  </p:sldMasterIdLst>
  <p:sldIdLst>
    <p:sldId id="260" r:id="rId2"/>
    <p:sldId id="261" r:id="rId3"/>
    <p:sldId id="262" r:id="rId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0000FF"/>
    <a:srgbClr val="0066FF"/>
    <a:srgbClr val="3333CC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00" autoAdjust="0"/>
    <p:restoredTop sz="94660"/>
  </p:normalViewPr>
  <p:slideViewPr>
    <p:cSldViewPr snapToGrid="0">
      <p:cViewPr varScale="1">
        <p:scale>
          <a:sx n="71" d="100"/>
          <a:sy n="71" d="100"/>
        </p:scale>
        <p:origin x="618" y="54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tableStyles" Target="tableStyles.xml"/><Relationship Id="rId3" Type="http://schemas.openxmlformats.org/officeDocument/2006/relationships/slide" Target="slides/slide2.xml"/><Relationship Id="rId7" Type="http://schemas.openxmlformats.org/officeDocument/2006/relationships/theme" Target="theme/theme1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viewProps" Target="viewProps.xml"/><Relationship Id="rId5" Type="http://schemas.openxmlformats.org/officeDocument/2006/relationships/presProps" Target="presProps.xml"/><Relationship Id="rId4" Type="http://schemas.openxmlformats.org/officeDocument/2006/relationships/slide" Target="slides/slide3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sp>
          <p:nvSpPr>
            <p:cNvPr id="15" name="Freeform 14"/>
            <p:cNvSpPr/>
            <p:nvPr/>
          </p:nvSpPr>
          <p:spPr>
            <a:xfrm>
              <a:off x="0" y="-7862"/>
              <a:ext cx="863600" cy="5698067"/>
            </a:xfrm>
            <a:custGeom>
              <a:avLst/>
              <a:gdLst/>
              <a:ahLst/>
              <a:cxnLst/>
              <a:rect l="l" t="t" r="r" b="b"/>
              <a:pathLst>
                <a:path w="863600" h="5698067">
                  <a:moveTo>
                    <a:pt x="0" y="8467"/>
                  </a:moveTo>
                  <a:lnTo>
                    <a:pt x="863600" y="0"/>
                  </a:lnTo>
                  <a:lnTo>
                    <a:pt x="863600" y="16934"/>
                  </a:lnTo>
                  <a:lnTo>
                    <a:pt x="0" y="5698067"/>
                  </a:lnTo>
                  <a:lnTo>
                    <a:pt x="0" y="8467"/>
                  </a:lnTo>
                  <a:close/>
                </a:path>
              </a:pathLst>
            </a:cu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cxnSp>
          <p:nvCxnSpPr>
            <p:cNvPr id="19" name="Straight Connector 18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0" name="Straight Connector 19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1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2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Isosceles Triangle 22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Isosceles Triangle 26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07067" y="2404534"/>
            <a:ext cx="7766936" cy="1646302"/>
          </a:xfrm>
        </p:spPr>
        <p:txBody>
          <a:bodyPr anchor="b">
            <a:noAutofit/>
          </a:bodyPr>
          <a:lstStyle>
            <a:lvl1pPr algn="r">
              <a:defRPr sz="5400">
                <a:solidFill>
                  <a:schemeClr val="accent1"/>
                </a:solidFill>
              </a:defRPr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507067" y="4050833"/>
            <a:ext cx="7766936" cy="1096899"/>
          </a:xfrm>
        </p:spPr>
        <p:txBody>
          <a:bodyPr anchor="t"/>
          <a:lstStyle>
            <a:lvl1pPr marL="0" indent="0" algn="r">
              <a:buNone/>
              <a:defRPr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2700867"/>
            <a:ext cx="8596668" cy="1826581"/>
          </a:xfrm>
        </p:spPr>
        <p:txBody>
          <a:bodyPr anchor="b"/>
          <a:lstStyle>
            <a:lvl1pPr algn="l">
              <a:defRPr sz="40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860400"/>
          </a:xfrm>
        </p:spPr>
        <p:txBody>
          <a:bodyPr anchor="t"/>
          <a:lstStyle>
            <a:lvl1pPr marL="0" indent="0" algn="l">
              <a:buNone/>
              <a:defRPr sz="20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677334" y="2160589"/>
            <a:ext cx="4184035" cy="3880772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5089970" y="2160589"/>
            <a:ext cx="4184034" cy="3880773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5745" y="2160983"/>
            <a:ext cx="4185623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75745" y="2737245"/>
            <a:ext cx="4185623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5088383" y="2160983"/>
            <a:ext cx="4185618" cy="576262"/>
          </a:xfrm>
        </p:spPr>
        <p:txBody>
          <a:bodyPr anchor="b">
            <a:noAutofit/>
          </a:bodyPr>
          <a:lstStyle>
            <a:lvl1pPr marL="0" indent="0">
              <a:buNone/>
              <a:defRPr sz="2400" b="0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5088384" y="2737245"/>
            <a:ext cx="4185617" cy="330411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1498604"/>
            <a:ext cx="3854528" cy="1278466"/>
          </a:xfrm>
        </p:spPr>
        <p:txBody>
          <a:bodyPr anchor="b">
            <a:normAutofit/>
          </a:bodyPr>
          <a:lstStyle>
            <a:lvl1pPr>
              <a:defRPr sz="200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760461" y="514924"/>
            <a:ext cx="4513541" cy="5526437"/>
          </a:xfrm>
        </p:spPr>
        <p:txBody>
          <a:bodyPr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2777069"/>
            <a:ext cx="3854528" cy="2584449"/>
          </a:xfrm>
        </p:spPr>
        <p:txBody>
          <a:bodyPr>
            <a:normAutofit/>
          </a:bodyPr>
          <a:lstStyle>
            <a:lvl1pPr marL="0" indent="0">
              <a:buNone/>
              <a:defRPr sz="1400"/>
            </a:lvl1pPr>
            <a:lvl2pPr marL="457063" indent="0">
              <a:buNone/>
              <a:defRPr sz="1400"/>
            </a:lvl2pPr>
            <a:lvl3pPr marL="914126" indent="0">
              <a:buNone/>
              <a:defRPr sz="1200"/>
            </a:lvl3pPr>
            <a:lvl4pPr marL="1371189" indent="0">
              <a:buNone/>
              <a:defRPr sz="1000"/>
            </a:lvl4pPr>
            <a:lvl5pPr marL="1828251" indent="0">
              <a:buNone/>
              <a:defRPr sz="1000"/>
            </a:lvl5pPr>
            <a:lvl6pPr marL="2285314" indent="0">
              <a:buNone/>
              <a:defRPr sz="1000"/>
            </a:lvl6pPr>
            <a:lvl7pPr marL="2742377" indent="0">
              <a:buNone/>
              <a:defRPr sz="1000"/>
            </a:lvl7pPr>
            <a:lvl8pPr marL="3199440" indent="0">
              <a:buNone/>
              <a:defRPr sz="1000"/>
            </a:lvl8pPr>
            <a:lvl9pPr marL="3656503" indent="0">
              <a:buNone/>
              <a:defRPr sz="10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42A54C80-263E-416B-A8E0-580EDEADCBDC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19954A3-9DFD-4C44-94BA-B95130A3BA1C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4" y="4800600"/>
            <a:ext cx="8596667" cy="566738"/>
          </a:xfrm>
        </p:spPr>
        <p:txBody>
          <a:bodyPr anchor="b">
            <a:normAutofit/>
          </a:bodyPr>
          <a:lstStyle>
            <a:lvl1pPr algn="l">
              <a:defRPr sz="2400" b="0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677334" y="609600"/>
            <a:ext cx="8596668" cy="3845718"/>
          </a:xfrm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 smtClean="0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677334" y="5367338"/>
            <a:ext cx="8596667" cy="674024"/>
          </a:xfrm>
        </p:spPr>
        <p:txBody>
          <a:bodyPr>
            <a:normAutofit/>
          </a:bodyPr>
          <a:lstStyle>
            <a:lvl1pPr marL="0" indent="0">
              <a:buNone/>
              <a:defRPr sz="12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609600"/>
            <a:ext cx="8596668" cy="3403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366139" y="3632200"/>
            <a:ext cx="7224524" cy="381000"/>
          </a:xfrm>
        </p:spPr>
        <p:txBody>
          <a:bodyPr anchor="ctr">
            <a:noAutofit/>
          </a:bodyPr>
          <a:lstStyle>
            <a:lvl1pPr marL="0" indent="0">
              <a:buFontTx/>
              <a:buNone/>
              <a:defRPr sz="16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470400"/>
            <a:ext cx="8596668" cy="1570962"/>
          </a:xfrm>
        </p:spPr>
        <p:txBody>
          <a:bodyPr anchor="ctr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77335" y="1931988"/>
            <a:ext cx="8596668" cy="2595460"/>
          </a:xfrm>
        </p:spPr>
        <p:txBody>
          <a:bodyPr anchor="b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31334" y="609600"/>
            <a:ext cx="8094134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tx1">
                    <a:lumMod val="75000"/>
                    <a:lumOff val="25000"/>
                  </a:schemeClr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  <p:sp>
        <p:nvSpPr>
          <p:cNvPr id="24" name="TextBox 23"/>
          <p:cNvSpPr txBox="1"/>
          <p:nvPr/>
        </p:nvSpPr>
        <p:spPr>
          <a:xfrm>
            <a:off x="541870" y="790378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“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893011" y="2886556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/>
          <a:p>
            <a:pPr lvl="0"/>
            <a:r>
              <a:rPr lang="en-US" sz="8000" baseline="0" dirty="0">
                <a:ln w="3175" cmpd="sng">
                  <a:noFill/>
                </a:ln>
                <a:solidFill>
                  <a:schemeClr val="accent1">
                    <a:lumMod val="60000"/>
                    <a:lumOff val="40000"/>
                  </a:schemeClr>
                </a:solidFill>
                <a:effectLst/>
                <a:latin typeface="Arial"/>
              </a:rPr>
              <a:t>”</a:t>
            </a:r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85799" y="609600"/>
            <a:ext cx="8588203" cy="3022600"/>
          </a:xfrm>
        </p:spPr>
        <p:txBody>
          <a:bodyPr anchor="ctr">
            <a:normAutofit/>
          </a:bodyPr>
          <a:lstStyle>
            <a:lvl1pPr algn="l">
              <a:defRPr sz="4400" b="0" cap="none"/>
            </a:lvl1pPr>
          </a:lstStyle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23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677332" y="4013200"/>
            <a:ext cx="8596669" cy="514248"/>
          </a:xfrm>
        </p:spPr>
        <p:txBody>
          <a:bodyPr anchor="b">
            <a:noAutofit/>
          </a:bodyPr>
          <a:lstStyle>
            <a:lvl1pPr marL="0" indent="0">
              <a:buFontTx/>
              <a:buNone/>
              <a:defRPr sz="2400">
                <a:solidFill>
                  <a:schemeClr val="accent1"/>
                </a:solidFill>
              </a:defRPr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5" y="4527448"/>
            <a:ext cx="8596668" cy="1513914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>
                    <a:lumMod val="50000"/>
                    <a:lumOff val="50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5C6B4A9-1611-4792-9094-5F34BCA07E0B}" type="datetimeFigureOut">
              <a:rPr lang="en-US" dirty="0"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89333C77-0158-454C-844F-B7AB9BD7DAD4}" type="slidenum">
              <a:rPr lang="en-US" dirty="0"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7967673" y="609599"/>
            <a:ext cx="1304743" cy="5251451"/>
          </a:xfrm>
        </p:spPr>
        <p:txBody>
          <a:bodyPr vert="eaVert" anchor="ctr"/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677335" y="609600"/>
            <a:ext cx="7060150" cy="5251450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1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6" Type="http://schemas.openxmlformats.org/officeDocument/2006/relationships/slideLayout" Target="../slideLayouts/slideLayout16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slideLayout" Target="../slideLayouts/slideLayout1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44" name="Group 43"/>
          <p:cNvGrpSpPr/>
          <p:nvPr/>
        </p:nvGrpSpPr>
        <p:grpSpPr>
          <a:xfrm>
            <a:off x="0" y="-8467"/>
            <a:ext cx="12192000" cy="6866467"/>
            <a:chOff x="0" y="-8467"/>
            <a:chExt cx="12192000" cy="6866467"/>
          </a:xfrm>
        </p:grpSpPr>
        <p:cxnSp>
          <p:nvCxnSpPr>
            <p:cNvPr id="20" name="Straight Connector 19"/>
            <p:cNvCxnSpPr/>
            <p:nvPr/>
          </p:nvCxnSpPr>
          <p:spPr>
            <a:xfrm>
              <a:off x="9371012" y="0"/>
              <a:ext cx="1219200" cy="6858000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cxnSp>
          <p:nvCxnSpPr>
            <p:cNvPr id="21" name="Straight Connector 20"/>
            <p:cNvCxnSpPr/>
            <p:nvPr/>
          </p:nvCxnSpPr>
          <p:spPr>
            <a:xfrm flipH="1">
              <a:off x="7425267" y="3681413"/>
              <a:ext cx="4763558" cy="3176587"/>
            </a:xfrm>
            <a:prstGeom prst="line">
              <a:avLst/>
            </a:prstGeom>
            <a:ln w="9525">
              <a:solidFill>
                <a:schemeClr val="accent1">
                  <a:alpha val="70000"/>
                </a:schemeClr>
              </a:solidFill>
            </a:ln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  <p:sp>
          <p:nvSpPr>
            <p:cNvPr id="22" name="Rectangle 23"/>
            <p:cNvSpPr/>
            <p:nvPr/>
          </p:nvSpPr>
          <p:spPr>
            <a:xfrm>
              <a:off x="9181476" y="-8467"/>
              <a:ext cx="3007349" cy="6866467"/>
            </a:xfrm>
            <a:custGeom>
              <a:avLst/>
              <a:gdLst/>
              <a:ahLst/>
              <a:cxnLst/>
              <a:rect l="l" t="t" r="r" b="b"/>
              <a:pathLst>
                <a:path w="3007349" h="6866467">
                  <a:moveTo>
                    <a:pt x="2045532" y="0"/>
                  </a:moveTo>
                  <a:lnTo>
                    <a:pt x="3007349" y="0"/>
                  </a:lnTo>
                  <a:lnTo>
                    <a:pt x="3007349" y="6866467"/>
                  </a:lnTo>
                  <a:lnTo>
                    <a:pt x="0" y="6866467"/>
                  </a:lnTo>
                  <a:lnTo>
                    <a:pt x="2045532" y="0"/>
                  </a:lnTo>
                  <a:close/>
                </a:path>
              </a:pathLst>
            </a:custGeom>
            <a:solidFill>
              <a:schemeClr val="accent1">
                <a:alpha val="3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3" name="Rectangle 25"/>
            <p:cNvSpPr/>
            <p:nvPr/>
          </p:nvSpPr>
          <p:spPr>
            <a:xfrm>
              <a:off x="9603442" y="-8467"/>
              <a:ext cx="2588558" cy="6866467"/>
            </a:xfrm>
            <a:custGeom>
              <a:avLst/>
              <a:gdLst/>
              <a:ahLst/>
              <a:cxnLst/>
              <a:rect l="l" t="t" r="r" b="b"/>
              <a:pathLst>
                <a:path w="2573311" h="6866467">
                  <a:moveTo>
                    <a:pt x="0" y="0"/>
                  </a:moveTo>
                  <a:lnTo>
                    <a:pt x="2573311" y="0"/>
                  </a:lnTo>
                  <a:lnTo>
                    <a:pt x="2573311" y="6866467"/>
                  </a:lnTo>
                  <a:lnTo>
                    <a:pt x="1202336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alpha val="2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4" name="Isosceles Triangle 23"/>
            <p:cNvSpPr/>
            <p:nvPr/>
          </p:nvSpPr>
          <p:spPr>
            <a:xfrm>
              <a:off x="8932333" y="3048000"/>
              <a:ext cx="3259667" cy="3810000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5" name="Rectangle 27"/>
            <p:cNvSpPr/>
            <p:nvPr/>
          </p:nvSpPr>
          <p:spPr>
            <a:xfrm>
              <a:off x="9334500" y="-8467"/>
              <a:ext cx="2854326" cy="6866467"/>
            </a:xfrm>
            <a:custGeom>
              <a:avLst/>
              <a:gdLst/>
              <a:ahLst/>
              <a:cxnLst/>
              <a:rect l="l" t="t" r="r" b="b"/>
              <a:pathLst>
                <a:path w="2858013" h="6866467">
                  <a:moveTo>
                    <a:pt x="0" y="0"/>
                  </a:moveTo>
                  <a:lnTo>
                    <a:pt x="2858013" y="0"/>
                  </a:lnTo>
                  <a:lnTo>
                    <a:pt x="2858013" y="6866467"/>
                  </a:lnTo>
                  <a:lnTo>
                    <a:pt x="2473942" y="686646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  <a:alpha val="5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6" name="Rectangle 28"/>
            <p:cNvSpPr/>
            <p:nvPr/>
          </p:nvSpPr>
          <p:spPr>
            <a:xfrm>
              <a:off x="10898730" y="-8467"/>
              <a:ext cx="1290094" cy="6866467"/>
            </a:xfrm>
            <a:custGeom>
              <a:avLst/>
              <a:gdLst/>
              <a:ahLst/>
              <a:cxnLst/>
              <a:rect l="l" t="t" r="r" b="b"/>
              <a:pathLst>
                <a:path w="1290094" h="6858000">
                  <a:moveTo>
                    <a:pt x="1019735" y="0"/>
                  </a:moveTo>
                  <a:lnTo>
                    <a:pt x="1290094" y="0"/>
                  </a:lnTo>
                  <a:lnTo>
                    <a:pt x="1290094" y="6858000"/>
                  </a:lnTo>
                  <a:lnTo>
                    <a:pt x="0" y="6858000"/>
                  </a:lnTo>
                  <a:lnTo>
                    <a:pt x="1019735" y="0"/>
                  </a:lnTo>
                  <a:close/>
                </a:path>
              </a:pathLst>
            </a:custGeom>
            <a:solidFill>
              <a:schemeClr val="accent2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7" name="Rectangle 29"/>
            <p:cNvSpPr/>
            <p:nvPr/>
          </p:nvSpPr>
          <p:spPr>
            <a:xfrm>
              <a:off x="10938999" y="-8467"/>
              <a:ext cx="1249825" cy="6866467"/>
            </a:xfrm>
            <a:custGeom>
              <a:avLst/>
              <a:gdLst/>
              <a:ahLst/>
              <a:cxnLst/>
              <a:rect l="l" t="t" r="r" b="b"/>
              <a:pathLst>
                <a:path w="1249825" h="6858000">
                  <a:moveTo>
                    <a:pt x="0" y="0"/>
                  </a:moveTo>
                  <a:lnTo>
                    <a:pt x="1249825" y="0"/>
                  </a:lnTo>
                  <a:lnTo>
                    <a:pt x="1249825" y="6858000"/>
                  </a:lnTo>
                  <a:lnTo>
                    <a:pt x="1109382" y="685800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2">
                <a:lumMod val="75000"/>
                <a:alpha val="8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28" name="Isosceles Triangle 27"/>
            <p:cNvSpPr/>
            <p:nvPr/>
          </p:nvSpPr>
          <p:spPr>
            <a:xfrm>
              <a:off x="10371666" y="3589867"/>
              <a:ext cx="1817159" cy="3268133"/>
            </a:xfrm>
            <a:prstGeom prst="triangle">
              <a:avLst>
                <a:gd name="adj" fmla="val 100000"/>
              </a:avLst>
            </a:prstGeom>
            <a:solidFill>
              <a:schemeClr val="accent1">
                <a:lumMod val="75000"/>
                <a:alpha val="66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  <p:sp>
          <p:nvSpPr>
            <p:cNvPr id="19" name="Isosceles Triangle 18"/>
            <p:cNvSpPr/>
            <p:nvPr/>
          </p:nvSpPr>
          <p:spPr>
            <a:xfrm>
              <a:off x="0" y="4013200"/>
              <a:ext cx="448733" cy="2844800"/>
            </a:xfrm>
            <a:prstGeom prst="triangle">
              <a:avLst>
                <a:gd name="adj" fmla="val 0"/>
              </a:avLst>
            </a:prstGeom>
            <a:solidFill>
              <a:schemeClr val="accent1">
                <a:alpha val="70000"/>
              </a:schemeClr>
            </a:solidFill>
            <a:ln>
              <a:noFill/>
            </a:ln>
            <a:effectLst/>
          </p:spPr>
          <p:style>
            <a:lnRef idx="1">
              <a:schemeClr val="accent1"/>
            </a:lnRef>
            <a:fillRef idx="3">
              <a:schemeClr val="accent1"/>
            </a:fillRef>
            <a:effectRef idx="2">
              <a:schemeClr val="accent1"/>
            </a:effectRef>
            <a:fontRef idx="minor">
              <a:schemeClr val="lt1"/>
            </a:fontRef>
          </p:style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677334" y="609600"/>
            <a:ext cx="8596668" cy="1320800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r>
              <a:rPr lang="en-US" smtClean="0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77334" y="2160589"/>
            <a:ext cx="8596668" cy="388077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7205133" y="6041362"/>
            <a:ext cx="9119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1BEF0D-F0BB-DE4B-95CE-6DB70DBA9567}" type="datetimeFigureOut">
              <a:rPr lang="en-US" dirty="0"/>
              <a:pPr/>
              <a:t>9/24/2026</a:t>
            </a:fld>
            <a:endParaRPr lang="en-US" dirty="0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677334" y="6041362"/>
            <a:ext cx="629761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 dirty="0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8590663" y="6041362"/>
            <a:ext cx="683339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900">
                <a:solidFill>
                  <a:schemeClr val="accent1"/>
                </a:solidFill>
              </a:defRPr>
            </a:lvl1pPr>
          </a:lstStyle>
          <a:p>
            <a:fld id="{D57F1E4F-1CFF-5643-939E-217C01CDF565}" type="slidenum">
              <a:rPr lang="en-US" dirty="0"/>
              <a:pPr/>
              <a:t>‹#›</a:t>
            </a:fld>
            <a:endParaRPr lang="en-US" dirty="0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65" r:id="rId2"/>
    <p:sldLayoutId id="2147483651" r:id="rId3"/>
    <p:sldLayoutId id="2147483666" r:id="rId4"/>
    <p:sldLayoutId id="2147483653" r:id="rId5"/>
    <p:sldLayoutId id="2147483654" r:id="rId6"/>
    <p:sldLayoutId id="2147483655" r:id="rId7"/>
    <p:sldLayoutId id="2147483667" r:id="rId8"/>
    <p:sldLayoutId id="2147483657" r:id="rId9"/>
    <p:sldLayoutId id="2147483660" r:id="rId10"/>
    <p:sldLayoutId id="2147483661" r:id="rId11"/>
    <p:sldLayoutId id="2147483662" r:id="rId12"/>
    <p:sldLayoutId id="2147483663" r:id="rId13"/>
    <p:sldLayoutId id="2147483664" r:id="rId14"/>
    <p:sldLayoutId id="2147483668" r:id="rId15"/>
    <p:sldLayoutId id="2147483659" r:id="rId16"/>
  </p:sldLayoutIdLst>
  <p:txStyles>
    <p:titleStyle>
      <a:lvl1pPr algn="l" defTabSz="457200" rtl="0" eaLnBrk="1" latinLnBrk="0" hangingPunct="1">
        <a:spcBef>
          <a:spcPct val="0"/>
        </a:spcBef>
        <a:buNone/>
        <a:defRPr sz="3600" kern="1200">
          <a:solidFill>
            <a:schemeClr val="accent1"/>
          </a:solidFill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342900" indent="-3429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8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6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ts val="1000"/>
        </a:spcBef>
        <a:spcAft>
          <a:spcPts val="0"/>
        </a:spcAft>
        <a:buClr>
          <a:schemeClr val="accent1"/>
        </a:buClr>
        <a:buSzPct val="80000"/>
        <a:buFont typeface="Wingdings 3" charset="2"/>
        <a:buChar char=""/>
        <a:defRPr sz="12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008592" y="0"/>
            <a:ext cx="8596668" cy="802341"/>
          </a:xfrm>
        </p:spPr>
        <p:txBody>
          <a:bodyPr/>
          <a:lstStyle/>
          <a:p>
            <a:r>
              <a:rPr lang="en-US" dirty="0" smtClean="0">
                <a:solidFill>
                  <a:srgbClr val="3333CC"/>
                </a:solidFill>
                <a:latin typeface="Algerian" panose="04020705040A02060702" pitchFamily="82" charset="0"/>
              </a:rPr>
              <a:t>project Development Phase</a:t>
            </a:r>
            <a:endParaRPr lang="en-US" dirty="0">
              <a:solidFill>
                <a:srgbClr val="3333CC"/>
              </a:solidFill>
              <a:latin typeface="Algerian" panose="04020705040A02060702" pitchFamily="82" charset="0"/>
            </a:endParaRP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390030" y="802340"/>
            <a:ext cx="8596668" cy="6055659"/>
          </a:xfrm>
        </p:spPr>
        <p:txBody>
          <a:bodyPr>
            <a:normAutofit/>
          </a:bodyPr>
          <a:lstStyle/>
          <a:p>
            <a:r>
              <a:rPr lang="en-US" sz="2000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 </a:t>
            </a:r>
            <a:r>
              <a:rPr lang="en-US" sz="2000" dirty="0">
                <a:solidFill>
                  <a:srgbClr val="0000FF"/>
                </a:solidFill>
                <a:latin typeface="Arial Black" panose="020B0A04020102020204" pitchFamily="34" charset="0"/>
              </a:rPr>
              <a:t>Core </a:t>
            </a:r>
            <a:r>
              <a:rPr lang="en-US" sz="2000" dirty="0" smtClean="0">
                <a:solidFill>
                  <a:srgbClr val="0000FF"/>
                </a:solidFill>
                <a:latin typeface="Arial Black" panose="020B0A04020102020204" pitchFamily="34" charset="0"/>
              </a:rPr>
              <a:t>Functions</a:t>
            </a:r>
          </a:p>
          <a:p>
            <a:pPr>
              <a:buFont typeface="Wingdings" panose="05000000000000000000" pitchFamily="2" charset="2"/>
              <a:buChar char="v"/>
            </a:pPr>
            <a:r>
              <a:rPr lang="en-US" i="1" dirty="0">
                <a:solidFill>
                  <a:srgbClr val="0066FF"/>
                </a:solidFill>
                <a:latin typeface="Arial Rounded MT Bold" panose="020F0704030504030204" pitchFamily="34" charset="0"/>
              </a:rPr>
              <a:t>g</a:t>
            </a:r>
            <a:r>
              <a:rPr lang="en-US" i="1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enerate _ outline</a:t>
            </a:r>
            <a:r>
              <a:rPr lang="en-US" i="1" dirty="0">
                <a:solidFill>
                  <a:srgbClr val="0066FF"/>
                </a:solidFill>
                <a:latin typeface="Arial Rounded MT Bold" panose="020F0704030504030204" pitchFamily="34" charset="0"/>
              </a:rPr>
              <a:t>() — gemini_flash.py (Gemini Flash → JSON panel outline</a:t>
            </a:r>
            <a:r>
              <a:rPr lang="en-US" i="1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)</a:t>
            </a:r>
          </a:p>
          <a:p>
            <a:pPr marL="0" indent="0">
              <a:buNone/>
            </a:pPr>
            <a:endParaRPr lang="en-US" i="1" dirty="0" smtClean="0">
              <a:solidFill>
                <a:srgbClr val="0066FF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i="1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outline(user _ prompt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i="1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-&gt; list: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prompt = 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f‘ Generate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strictly formatted JSON array of 5 comic panels for: "{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user _ prompt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}". Each object: "panel", "title", "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scene _ description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", "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_ prompt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". Respond ONLY in valid JSON.' 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try:   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response = 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model .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enerate _ content(prompt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panel _ data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i="1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json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. loads(response .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</a:t>
            </a: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ext . strip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().replace("</a:t>
            </a:r>
            <a:r>
              <a:rPr lang="en-US" i="1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json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", "").replace("", ""))      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return panel _ data </a:t>
            </a: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except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Exception as e:    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i="1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return 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[{"error": </a:t>
            </a:r>
            <a:r>
              <a:rPr lang="en-US" i="1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i="1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(e)}]</a:t>
            </a:r>
            <a:endParaRPr lang="en-US" i="1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330959494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1089213" y="309281"/>
            <a:ext cx="8596313" cy="6131859"/>
          </a:xfrm>
        </p:spPr>
        <p:txBody>
          <a:bodyPr>
            <a:normAutofit fontScale="92500" lnSpcReduction="1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1900" dirty="0">
                <a:solidFill>
                  <a:srgbClr val="0066FF"/>
                </a:solidFill>
                <a:latin typeface="Arial Rounded MT Bold" panose="020F0704030504030204" pitchFamily="34" charset="0"/>
              </a:rPr>
              <a:t>g</a:t>
            </a:r>
            <a:r>
              <a:rPr lang="en-US" sz="1900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enerate _ story</a:t>
            </a:r>
            <a:r>
              <a:rPr lang="en-US" sz="1900" dirty="0">
                <a:solidFill>
                  <a:srgbClr val="0066FF"/>
                </a:solidFill>
                <a:latin typeface="Arial Rounded MT Bold" panose="020F0704030504030204" pitchFamily="34" charset="0"/>
              </a:rPr>
              <a:t>() — gemini_pro.py (Gemini Pro → narration &amp; dialogue</a:t>
            </a:r>
            <a:r>
              <a:rPr lang="en-US" sz="1900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)</a:t>
            </a:r>
          </a:p>
          <a:p>
            <a:pPr marL="0" indent="0">
              <a:buNone/>
            </a:pPr>
            <a:endParaRPr lang="en-US" dirty="0" smtClean="0">
              <a:solidFill>
                <a:srgbClr val="0066FF"/>
              </a:solidFill>
              <a:latin typeface="Arial Rounded MT Bold" panose="020F0704030504030204" pitchFamily="34" charset="0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story(outline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list) -&gt; </a:t>
            </a:r>
            <a:r>
              <a:rPr lang="en-US" sz="19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prompt =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f“ Write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 comic-style story with narration and dialogue for: {outline}"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response =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model .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enerate _ content(prompt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return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response . text</a:t>
            </a:r>
          </a:p>
          <a:p>
            <a:pPr marL="0" indent="0">
              <a:buNone/>
            </a:pPr>
            <a:endParaRPr lang="en-US" dirty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>
              <a:buFont typeface="Wingdings" panose="05000000000000000000" pitchFamily="2" charset="2"/>
              <a:buChar char="v"/>
            </a:pPr>
            <a:r>
              <a:rPr lang="en-US" sz="1900" dirty="0">
                <a:solidFill>
                  <a:srgbClr val="0066FF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g</a:t>
            </a:r>
            <a:r>
              <a:rPr lang="en-US" sz="1900" dirty="0" smtClean="0">
                <a:solidFill>
                  <a:srgbClr val="0066FF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enerate _ image</a:t>
            </a:r>
            <a:r>
              <a:rPr lang="en-US" sz="1900" dirty="0">
                <a:solidFill>
                  <a:srgbClr val="0066FF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() — image_generator.py (Stable Diffusion → panel art</a:t>
            </a:r>
            <a:r>
              <a:rPr lang="en-US" sz="1900" dirty="0" smtClean="0">
                <a:solidFill>
                  <a:srgbClr val="0066FF"/>
                </a:solidFill>
                <a:latin typeface="Arial Rounded MT Bold" panose="020F070403050403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0" indent="0">
              <a:buNone/>
            </a:pPr>
            <a:endParaRPr lang="en-US" dirty="0">
              <a:solidFill>
                <a:srgbClr val="0066FF"/>
              </a:solidFill>
              <a:latin typeface="Arial Rounded MT Bold" panose="020F0704030504030204" pitchFamily="34" charset="0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image(prompt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filename=None):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filename = filename or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sanitize _ filename(prompt)</a:t>
            </a: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= pipe(prompt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).images[0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]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path =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f“ static/panels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/{filename}"  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</a:t>
            </a:r>
            <a:r>
              <a:rPr lang="en-US" sz="19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. </a:t>
            </a:r>
            <a:r>
              <a:rPr lang="en-US" sz="19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makedirs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</a:t>
            </a:r>
            <a:r>
              <a:rPr lang="en-US" sz="19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os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.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ath . </a:t>
            </a:r>
            <a:r>
              <a:rPr lang="en-US" sz="19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</a:t>
            </a:r>
            <a:r>
              <a:rPr lang="en-US" sz="19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irname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(path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), </a:t>
            </a: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exist _ ok=True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image . save(path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</a:t>
            </a:r>
            <a:endParaRPr lang="en-US" sz="19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19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19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return path</a:t>
            </a:r>
          </a:p>
        </p:txBody>
      </p:sp>
    </p:spTree>
    <p:extLst>
      <p:ext uri="{BB962C8B-B14F-4D97-AF65-F5344CB8AC3E}">
        <p14:creationId xmlns:p14="http://schemas.microsoft.com/office/powerpoint/2010/main" val="19223982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4294967295"/>
          </p:nvPr>
        </p:nvSpPr>
        <p:spPr>
          <a:xfrm>
            <a:off x="968188" y="188259"/>
            <a:ext cx="8596313" cy="6669741"/>
          </a:xfrm>
        </p:spPr>
        <p:txBody>
          <a:bodyPr>
            <a:normAutofit fontScale="62500" lnSpcReduction="20000"/>
          </a:bodyPr>
          <a:lstStyle/>
          <a:p>
            <a:pPr>
              <a:buFont typeface="Wingdings" panose="05000000000000000000" pitchFamily="2" charset="2"/>
              <a:buChar char="v"/>
            </a:pPr>
            <a:r>
              <a:rPr lang="en-US" sz="2600" dirty="0">
                <a:solidFill>
                  <a:srgbClr val="0066FF"/>
                </a:solidFill>
                <a:latin typeface="Arial Rounded MT Bold" panose="020F0704030504030204" pitchFamily="34" charset="0"/>
              </a:rPr>
              <a:t>b</a:t>
            </a:r>
            <a:r>
              <a:rPr lang="en-US" sz="2600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uild _ comic _ layout</a:t>
            </a:r>
            <a:r>
              <a:rPr lang="en-US" sz="2600" dirty="0">
                <a:solidFill>
                  <a:srgbClr val="0066FF"/>
                </a:solidFill>
                <a:latin typeface="Arial Rounded MT Bold" panose="020F0704030504030204" pitchFamily="34" charset="0"/>
              </a:rPr>
              <a:t>() — layout_builder.py (combines text + images</a:t>
            </a:r>
            <a:r>
              <a:rPr lang="en-US" sz="2600" dirty="0" smtClean="0">
                <a:solidFill>
                  <a:srgbClr val="0066FF"/>
                </a:solidFill>
                <a:latin typeface="Arial Rounded MT Bold" panose="020F0704030504030204" pitchFamily="34" charset="0"/>
              </a:rPr>
              <a:t>)</a:t>
            </a:r>
          </a:p>
          <a:p>
            <a:pPr marL="0" indent="0">
              <a:buNone/>
            </a:pPr>
            <a:r>
              <a:rPr lang="en-US" sz="22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build _ comic _ layout(image _ paths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full _ story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outline):  </a:t>
            </a:r>
            <a:endParaRPr lang="en-US" sz="22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panels = [p for p in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full _ story . split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("**Panel") if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 . strip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()]  </a:t>
            </a:r>
            <a:endParaRPr lang="en-US" sz="22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return [    </a:t>
            </a:r>
            <a:endParaRPr lang="en-US" sz="22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{"panel": </a:t>
            </a:r>
            <a:r>
              <a:rPr lang="en-US" sz="22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"title":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info . get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("title",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f“ Panel 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{</a:t>
            </a:r>
            <a:r>
              <a:rPr lang="en-US" sz="22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}"), "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_ path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": </a:t>
            </a:r>
            <a:r>
              <a:rPr lang="en-US" sz="22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img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"text":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txt . strip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()}        for </a:t>
            </a:r>
            <a:r>
              <a:rPr lang="en-US" sz="22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(</a:t>
            </a:r>
            <a:r>
              <a:rPr lang="en-US" sz="22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img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txt, info) in </a:t>
            </a: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enumerate(zip(image _ paths</a:t>
            </a:r>
            <a:r>
              <a:rPr lang="en-US" sz="22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panels, outline), start=1)  </a:t>
            </a:r>
            <a:endParaRPr lang="en-US" sz="22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2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]</a:t>
            </a:r>
          </a:p>
          <a:p>
            <a:r>
              <a:rPr lang="en-US" sz="2900" dirty="0">
                <a:solidFill>
                  <a:srgbClr val="0000FF"/>
                </a:solidFill>
                <a:latin typeface="Arial Black" panose="020B0A040201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Main Route (routes.py</a:t>
            </a:r>
            <a:r>
              <a:rPr lang="en-US" sz="2900" dirty="0" smtClean="0">
                <a:solidFill>
                  <a:srgbClr val="0000FF"/>
                </a:solidFill>
                <a:latin typeface="Arial Black" panose="020B0A04020102020204" pitchFamily="34" charset="0"/>
                <a:ea typeface="Arial Unicode MS" panose="020B0604020202020204" pitchFamily="34" charset="-128"/>
                <a:cs typeface="Arial Unicode MS" panose="020B0604020202020204" pitchFamily="34" charset="-128"/>
              </a:rPr>
              <a:t>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@router . post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("/generate",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response _ class=HTML Response)</a:t>
            </a:r>
          </a:p>
          <a:p>
            <a:pPr marL="0" indent="0">
              <a:buNone/>
            </a:pPr>
            <a:r>
              <a:rPr lang="en-US" sz="20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async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def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comic(request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Request, prompt: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Form(...),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character _ name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Form(...), setting: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Form(...),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tone: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Form(...), style: </a:t>
            </a:r>
            <a:r>
              <a:rPr lang="en-US" sz="2000" dirty="0" err="1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= Form(...)):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try: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full _ prompt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f"{prompt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}\n Character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: {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character _ name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}. Setting: {setting}. Tone: {tone}. Style: {style}." 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outline =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outline(full _ prompt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full _ story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story(outline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images = [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generate _ image(p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["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image _ prompt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"]) for p in outline]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layout =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build _ comic _ layout(images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full _ story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outline)   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pdf _ path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save _ pdf(layout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   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return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templates . Template Response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("comic_preview.html", {"request": request, "layout": layout, "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pdf _ path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":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pdf _ path})</a:t>
            </a: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except Exception as e:     </a:t>
            </a:r>
            <a:endParaRPr lang="en-US" sz="2000" dirty="0" smtClean="0">
              <a:solidFill>
                <a:schemeClr val="tx1"/>
              </a:solidFill>
              <a:latin typeface="Arial Unicode MS" panose="020B0604020202020204" pitchFamily="34" charset="-128"/>
              <a:ea typeface="Arial Unicode MS" panose="020B0604020202020204" pitchFamily="34" charset="-128"/>
              <a:cs typeface="Arial Unicode MS" panose="020B0604020202020204" pitchFamily="34" charset="-128"/>
            </a:endParaRPr>
          </a:p>
          <a:p>
            <a:pPr marL="0" indent="0">
              <a:buNone/>
            </a:pP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   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raise 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HTTP Exception(status _ code=500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, detail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= </a:t>
            </a:r>
            <a:r>
              <a:rPr lang="en-US" sz="2000" dirty="0" err="1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str</a:t>
            </a:r>
            <a:r>
              <a:rPr lang="en-US" sz="2000" dirty="0" smtClean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(e</a:t>
            </a:r>
            <a:r>
              <a:rPr lang="en-US" sz="2000" dirty="0">
                <a:solidFill>
                  <a:schemeClr val="tx1"/>
                </a:solidFill>
                <a:latin typeface="Arial Unicode MS" panose="020B0604020202020204" pitchFamily="34" charset="-128"/>
                <a:ea typeface="Arial Unicode MS" panose="020B0604020202020204" pitchFamily="34" charset="-128"/>
                <a:cs typeface="Arial Unicode MS" panose="020B0604020202020204" pitchFamily="34" charset="-128"/>
              </a:rPr>
              <a:t>))</a:t>
            </a:r>
          </a:p>
        </p:txBody>
      </p:sp>
    </p:spTree>
    <p:extLst>
      <p:ext uri="{BB962C8B-B14F-4D97-AF65-F5344CB8AC3E}">
        <p14:creationId xmlns:p14="http://schemas.microsoft.com/office/powerpoint/2010/main" val="389260697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Facet">
  <a:themeElements>
    <a:clrScheme name="Facet">
      <a:dk1>
        <a:sysClr val="windowText" lastClr="000000"/>
      </a:dk1>
      <a:lt1>
        <a:sysClr val="window" lastClr="FFFFFF"/>
      </a:lt1>
      <a:dk2>
        <a:srgbClr val="2C3C43"/>
      </a:dk2>
      <a:lt2>
        <a:srgbClr val="EBEBEB"/>
      </a:lt2>
      <a:accent1>
        <a:srgbClr val="5FCBEF"/>
      </a:accent1>
      <a:accent2>
        <a:srgbClr val="2E83C3"/>
      </a:accent2>
      <a:accent3>
        <a:srgbClr val="42D0A2"/>
      </a:accent3>
      <a:accent4>
        <a:srgbClr val="2E946B"/>
      </a:accent4>
      <a:accent5>
        <a:srgbClr val="42B051"/>
      </a:accent5>
      <a:accent6>
        <a:srgbClr val="96D141"/>
      </a:accent6>
      <a:hlink>
        <a:srgbClr val="3FCDE7"/>
      </a:hlink>
      <a:folHlink>
        <a:srgbClr val="A9D3E1"/>
      </a:folHlink>
    </a:clrScheme>
    <a:fontScheme name="Facet">
      <a:majorFont>
        <a:latin typeface="Trebuchet MS" panose="020B0603020202020204"/>
        <a:ea typeface=""/>
        <a:cs typeface=""/>
        <a:font script="Jpan" typeface="メイリオ"/>
        <a:font script="Hang" typeface="맑은 고딕"/>
        <a:font script="Hans" typeface="方正姚体"/>
        <a:font script="Hant" typeface="微軟正黑體"/>
        <a:font script="Arab" typeface="Tahoma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ahoma"/>
        <a:font script="Uigh" typeface="Microsoft Uighur"/>
        <a:font script="Geor" typeface="Sylfaen"/>
      </a:majorFont>
      <a:minorFont>
        <a:latin typeface="Trebuchet MS" panose="020B0603020202020204"/>
        <a:ea typeface=""/>
        <a:cs typeface=""/>
        <a:font script="Jpan" typeface="メイリオ"/>
        <a:font script="Hang" typeface="HY그래픽M"/>
        <a:font script="Hans" typeface="华文新魏"/>
        <a:font script="Hant" typeface="微軟正黑體"/>
        <a:font script="Arab" typeface="Tahoma"/>
        <a:font script="Hebr" typeface="Gisha"/>
        <a:font script="Thai" typeface="Iris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Face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lumMod val="110000"/>
              </a:schemeClr>
            </a:gs>
            <a:gs pos="88000">
              <a:schemeClr val="phClr">
                <a:tint val="90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0000"/>
              </a:schemeClr>
            </a:gs>
            <a:gs pos="78000">
              <a:schemeClr val="phClr">
                <a:shade val="94000"/>
                <a:lumMod val="94000"/>
              </a:schemeClr>
            </a:gs>
          </a:gsLst>
          <a:lin ang="5400000" scaled="0"/>
        </a:gradFill>
      </a:fillStyleLst>
      <a:lnStyleLst>
        <a:ln w="12700" cap="rnd" cmpd="sng" algn="ctr">
          <a:solidFill>
            <a:schemeClr val="phClr"/>
          </a:solidFill>
          <a:prstDash val="solid"/>
        </a:ln>
        <a:ln w="19050" cap="rnd" cmpd="sng" algn="ctr">
          <a:solidFill>
            <a:schemeClr val="phClr"/>
          </a:solidFill>
          <a:prstDash val="solid"/>
        </a:ln>
        <a:ln w="25400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l"/>
          </a:scene3d>
          <a:sp3d prstMaterial="plastic">
            <a:bevelT w="0" h="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04000"/>
              </a:schemeClr>
            </a:gs>
            <a:gs pos="94000">
              <a:schemeClr val="phClr">
                <a:shade val="96000"/>
                <a:lumMod val="82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94000"/>
                <a:lumMod val="96000"/>
              </a:schemeClr>
            </a:gs>
          </a:gsLst>
          <a:path path="circle">
            <a:fillToRect l="50000" t="50000" r="100000" b="100000"/>
          </a:path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acet" id="{C0C680CD-088A-49FC-A102-D699147F32B2}" vid="{0B5AB586-D108-4FC1-8368-649FE654B894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Facet</Template>
  <TotalTime>130</TotalTime>
  <Words>562</Words>
  <Application>Microsoft Office PowerPoint</Application>
  <PresentationFormat>Widescreen</PresentationFormat>
  <Paragraphs>49</Paragraphs>
  <Slides>3</Slides>
  <Notes>0</Notes>
  <HiddenSlides>0</HiddenSlides>
  <MMClips>0</MMClips>
  <ScaleCrop>false</ScaleCrop>
  <HeadingPairs>
    <vt:vector size="6" baseType="variant">
      <vt:variant>
        <vt:lpstr>Fonts Used</vt:lpstr>
      </vt:variant>
      <vt:variant>
        <vt:i4>8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3</vt:i4>
      </vt:variant>
    </vt:vector>
  </HeadingPairs>
  <TitlesOfParts>
    <vt:vector size="12" baseType="lpstr">
      <vt:lpstr>Arial Unicode MS</vt:lpstr>
      <vt:lpstr>Algerian</vt:lpstr>
      <vt:lpstr>Arial</vt:lpstr>
      <vt:lpstr>Arial Black</vt:lpstr>
      <vt:lpstr>Arial Rounded MT Bold</vt:lpstr>
      <vt:lpstr>Trebuchet MS</vt:lpstr>
      <vt:lpstr>Wingdings</vt:lpstr>
      <vt:lpstr>Wingdings 3</vt:lpstr>
      <vt:lpstr>Facet</vt:lpstr>
      <vt:lpstr>project Development Phase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Project Design Phase</dc:title>
  <dc:creator>mscas</dc:creator>
  <cp:lastModifiedBy>mscas</cp:lastModifiedBy>
  <cp:revision>15</cp:revision>
  <dcterms:created xsi:type="dcterms:W3CDTF">2026-09-24T04:43:08Z</dcterms:created>
  <dcterms:modified xsi:type="dcterms:W3CDTF">2026-09-24T06:53:12Z</dcterms:modified>
</cp:coreProperties>
</file>